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78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914400"/>
            <a:ext cx="10789920" cy="1463040"/>
          </a:xfrm>
          <a:prstGeom prst="rect">
            <a:avLst/>
          </a:prstGeom>
          <a:noFill/>
        </p:spPr>
        <p:txBody>
          <a:bodyPr wrap="none">
            <a:spAutoFit/>
          </a:bodyPr>
          <a:lstStyle/>
          <a:p>
            <a:pPr>
              <a:spcAft>
                <a:spcPts val="1200"/>
              </a:spcAft>
              <a:defRPr sz="3600" b="1">
                <a:solidFill>
                  <a:srgbClr val="FFFFFF"/>
                </a:solidFill>
              </a:defRPr>
            </a:pPr>
            <a:r>
              <a:t>READING COMPREHENSION</a:t>
            </a:r>
            <a:br/>
            <a:r>
              <a:t>&amp; REMEDIAL ENGLISH</a:t>
            </a:r>
          </a:p>
        </p:txBody>
      </p:sp>
      <p:sp>
        <p:nvSpPr>
          <p:cNvPr id="4" name="TextBox 3"/>
          <p:cNvSpPr txBox="1"/>
          <p:nvPr/>
        </p:nvSpPr>
        <p:spPr>
          <a:xfrm>
            <a:off x="731520" y="2743200"/>
            <a:ext cx="9875520" cy="1097280"/>
          </a:xfrm>
          <a:prstGeom prst="rect">
            <a:avLst/>
          </a:prstGeom>
          <a:noFill/>
        </p:spPr>
        <p:txBody>
          <a:bodyPr wrap="none">
            <a:spAutoFit/>
          </a:bodyPr>
          <a:lstStyle/>
          <a:p>
            <a:pPr>
              <a:defRPr sz="2200">
                <a:solidFill>
                  <a:srgbClr val="D2E1F0"/>
                </a:solidFill>
              </a:defRPr>
            </a:pPr>
            <a:r>
              <a:t>Application • Analysis • Error Detection • Correction • Professional English</a:t>
            </a:r>
          </a:p>
        </p:txBody>
      </p:sp>
      <p:sp>
        <p:nvSpPr>
          <p:cNvPr id="5" name="Rounded Rectangle 4"/>
          <p:cNvSpPr/>
          <p:nvPr/>
        </p:nvSpPr>
        <p:spPr>
          <a:xfrm>
            <a:off x="731520" y="4297680"/>
            <a:ext cx="10698480" cy="1325880"/>
          </a:xfrm>
          <a:prstGeom prst="roundRect">
            <a:avLst/>
          </a:prstGeom>
          <a:solidFill>
            <a:srgbClr val="1B304C"/>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4407408"/>
            <a:ext cx="10369296" cy="320040"/>
          </a:xfrm>
          <a:prstGeom prst="rect">
            <a:avLst/>
          </a:prstGeom>
          <a:noFill/>
        </p:spPr>
        <p:txBody>
          <a:bodyPr wrap="none">
            <a:spAutoFit/>
          </a:bodyPr>
          <a:lstStyle/>
          <a:p>
            <a:pPr>
              <a:defRPr sz="1600" b="1">
                <a:solidFill>
                  <a:srgbClr val="E0A337"/>
                </a:solidFill>
              </a:defRPr>
            </a:pPr>
            <a:r>
              <a:t>For MCA — Advance Professional Communication</a:t>
            </a:r>
          </a:p>
        </p:txBody>
      </p:sp>
      <p:sp>
        <p:nvSpPr>
          <p:cNvPr id="7" name="TextBox 6"/>
          <p:cNvSpPr txBox="1"/>
          <p:nvPr/>
        </p:nvSpPr>
        <p:spPr>
          <a:xfrm>
            <a:off x="896112" y="4800600"/>
            <a:ext cx="10369296" cy="704087"/>
          </a:xfrm>
          <a:prstGeom prst="rect">
            <a:avLst/>
          </a:prstGeom>
          <a:noFill/>
        </p:spPr>
        <p:txBody>
          <a:bodyPr wrap="square">
            <a:spAutoFit/>
          </a:bodyPr>
          <a:lstStyle/>
          <a:p>
            <a:pPr>
              <a:defRPr sz="1400">
                <a:solidFill>
                  <a:srgbClr val="232A32"/>
                </a:solidFill>
              </a:defRPr>
            </a:pPr>
            <a:r>
              <a:t>Today's focus is Module 3: English Comprehension &amp; Verbal Ability. Para-jumbles are already completed; today's class moves from 'finding the answer' to explaining WHY the answer is correct.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Today's Learning Outcomes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85800" y="1143000"/>
            <a:ext cx="10698480" cy="5029200"/>
          </a:xfrm>
          <a:prstGeom prst="rect">
            <a:avLst/>
          </a:prstGeom>
          <a:noFill/>
        </p:spPr>
        <p:txBody>
          <a:bodyPr wrap="square">
            <a:spAutoFit/>
          </a:bodyPr>
          <a:lstStyle/>
          <a:p>
            <a:pPr>
              <a:spcAft>
                <a:spcPts val="900"/>
              </a:spcAft>
              <a:defRPr sz="2100" b="0">
                <a:solidFill>
                  <a:srgbClr val="232A32"/>
                </a:solidFill>
              </a:defRPr>
            </a:pPr>
            <a:r>
              <a:rPr dirty="0"/>
              <a:t>Distinguish literal understanding, inference, application and analysis in a reading passage.</a:t>
            </a:r>
          </a:p>
          <a:p>
            <a:pPr>
              <a:spcAft>
                <a:spcPts val="900"/>
              </a:spcAft>
              <a:defRPr sz="2100" b="0">
                <a:solidFill>
                  <a:srgbClr val="232A32"/>
                </a:solidFill>
              </a:defRPr>
            </a:pPr>
            <a:r>
              <a:rPr dirty="0"/>
              <a:t>Use evidence from a text rather than personal opinion to answer comprehension questions.</a:t>
            </a:r>
          </a:p>
          <a:p>
            <a:pPr>
              <a:spcAft>
                <a:spcPts val="900"/>
              </a:spcAft>
              <a:defRPr sz="2100" b="0">
                <a:solidFill>
                  <a:srgbClr val="232A32"/>
                </a:solidFill>
              </a:defRPr>
            </a:pPr>
            <a:r>
              <a:rPr dirty="0" err="1"/>
              <a:t>Analyse</a:t>
            </a:r>
            <a:r>
              <a:rPr dirty="0"/>
              <a:t> an author's purpose, tone, assumptions, evidence and implications.</a:t>
            </a:r>
          </a:p>
          <a:p>
            <a:pPr>
              <a:spcAft>
                <a:spcPts val="900"/>
              </a:spcAft>
              <a:defRPr sz="2100" b="0">
                <a:solidFill>
                  <a:srgbClr val="232A32"/>
                </a:solidFill>
              </a:defRPr>
            </a:pPr>
            <a:r>
              <a:rPr dirty="0"/>
              <a:t>Identify common grammar and usage errors in professional English.</a:t>
            </a:r>
          </a:p>
          <a:p>
            <a:pPr>
              <a:spcAft>
                <a:spcPts val="900"/>
              </a:spcAft>
              <a:defRPr sz="2100" b="0">
                <a:solidFill>
                  <a:srgbClr val="232A32"/>
                </a:solidFill>
              </a:defRPr>
            </a:pPr>
            <a:r>
              <a:rPr dirty="0"/>
              <a:t>Apply a repeatable correction strategy: Identify → Diagnose → Correct → Justify.</a:t>
            </a:r>
          </a:p>
          <a:p>
            <a:pPr>
              <a:spcAft>
                <a:spcPts val="900"/>
              </a:spcAft>
              <a:defRPr sz="2100" b="0">
                <a:solidFill>
                  <a:srgbClr val="232A32"/>
                </a:solidFill>
              </a:defRPr>
            </a:pPr>
            <a:r>
              <a:rPr dirty="0"/>
              <a:t>Edit sentences for clarity, concision, agreement, tense, articles, prepositions, pronouns and parallelism.</a:t>
            </a:r>
          </a:p>
        </p:txBody>
      </p:sp>
      <p:sp>
        <p:nvSpPr>
          <p:cNvPr id="7" name="TextBox 6"/>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The 4 Levels of Reading</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Rounded Rectangle 5"/>
          <p:cNvSpPr/>
          <p:nvPr/>
        </p:nvSpPr>
        <p:spPr>
          <a:xfrm>
            <a:off x="548640" y="1097280"/>
            <a:ext cx="5440680" cy="4892040"/>
          </a:xfrm>
          <a:prstGeom prst="roundRect">
            <a:avLst/>
          </a:prstGeom>
          <a:solidFill>
            <a:srgbClr val="FFFFFF"/>
          </a:solidFill>
          <a:ln w="19050">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207007"/>
            <a:ext cx="5111496" cy="320040"/>
          </a:xfrm>
          <a:prstGeom prst="rect">
            <a:avLst/>
          </a:prstGeom>
          <a:noFill/>
        </p:spPr>
        <p:txBody>
          <a:bodyPr wrap="none">
            <a:spAutoFit/>
          </a:bodyPr>
          <a:lstStyle/>
          <a:p>
            <a:pPr>
              <a:defRPr sz="1600" b="1">
                <a:solidFill>
                  <a:srgbClr val="2A5C91"/>
                </a:solidFill>
              </a:defRPr>
            </a:pPr>
            <a:r>
              <a:t>1–2: Understanding</a:t>
            </a:r>
          </a:p>
        </p:txBody>
      </p:sp>
      <p:sp>
        <p:nvSpPr>
          <p:cNvPr id="8" name="TextBox 7"/>
          <p:cNvSpPr txBox="1"/>
          <p:nvPr/>
        </p:nvSpPr>
        <p:spPr>
          <a:xfrm>
            <a:off x="713232" y="1600200"/>
            <a:ext cx="5111496" cy="4270248"/>
          </a:xfrm>
          <a:prstGeom prst="rect">
            <a:avLst/>
          </a:prstGeom>
          <a:noFill/>
        </p:spPr>
        <p:txBody>
          <a:bodyPr wrap="square">
            <a:spAutoFit/>
          </a:bodyPr>
          <a:lstStyle/>
          <a:p>
            <a:pPr>
              <a:defRPr sz="1400">
                <a:solidFill>
                  <a:srgbClr val="232A32"/>
                </a:solidFill>
              </a:defRPr>
            </a:pPr>
            <a:r>
              <a:t>• Literal: What does the text explicitly say?</a:t>
            </a:r>
            <a:br/>
            <a:r>
              <a:t>• Main idea: What is the central message?</a:t>
            </a:r>
            <a:br/>
            <a:r>
              <a:t>• Detail: Which fact is directly stated?</a:t>
            </a:r>
            <a:br/>
            <a:r>
              <a:t>• Vocabulary in context: What does the word mean HERE?</a:t>
            </a:r>
          </a:p>
        </p:txBody>
      </p:sp>
      <p:sp>
        <p:nvSpPr>
          <p:cNvPr id="9" name="Rounded Rectangle 8"/>
          <p:cNvSpPr/>
          <p:nvPr/>
        </p:nvSpPr>
        <p:spPr>
          <a:xfrm>
            <a:off x="6217920" y="1097280"/>
            <a:ext cx="5440680" cy="4892040"/>
          </a:xfrm>
          <a:prstGeom prst="roundRect">
            <a:avLst/>
          </a:prstGeom>
          <a:solidFill>
            <a:srgbClr val="FFFFFF"/>
          </a:solidFill>
          <a:ln w="19050">
            <a:solidFill>
              <a:srgbClr val="2179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1207007"/>
            <a:ext cx="5111496" cy="320040"/>
          </a:xfrm>
          <a:prstGeom prst="rect">
            <a:avLst/>
          </a:prstGeom>
          <a:noFill/>
        </p:spPr>
        <p:txBody>
          <a:bodyPr wrap="none">
            <a:spAutoFit/>
          </a:bodyPr>
          <a:lstStyle/>
          <a:p>
            <a:pPr>
              <a:defRPr sz="1600" b="1">
                <a:solidFill>
                  <a:srgbClr val="217978"/>
                </a:solidFill>
              </a:defRPr>
            </a:pPr>
            <a:r>
              <a:t>3–4: Higher-order reading</a:t>
            </a:r>
          </a:p>
        </p:txBody>
      </p:sp>
      <p:sp>
        <p:nvSpPr>
          <p:cNvPr id="11" name="TextBox 10"/>
          <p:cNvSpPr txBox="1"/>
          <p:nvPr/>
        </p:nvSpPr>
        <p:spPr>
          <a:xfrm>
            <a:off x="6382512" y="1600200"/>
            <a:ext cx="5111496" cy="4270248"/>
          </a:xfrm>
          <a:prstGeom prst="rect">
            <a:avLst/>
          </a:prstGeom>
          <a:noFill/>
        </p:spPr>
        <p:txBody>
          <a:bodyPr wrap="square">
            <a:spAutoFit/>
          </a:bodyPr>
          <a:lstStyle/>
          <a:p>
            <a:pPr>
              <a:defRPr sz="1400">
                <a:solidFill>
                  <a:srgbClr val="232A32"/>
                </a:solidFill>
              </a:defRPr>
            </a:pPr>
            <a:r>
              <a:t>• Inference: What must / can reasonably be concluded?</a:t>
            </a:r>
            <a:br/>
            <a:r>
              <a:t>• Application: How does the idea work in a new situation?</a:t>
            </a:r>
            <a:br/>
            <a:r>
              <a:t>• Analysis: How is the argument constructed?</a:t>
            </a:r>
            <a:br/>
            <a:r>
              <a:t>• Evaluation: Is the evidence sufficient? What assumption is present?</a:t>
            </a:r>
          </a:p>
        </p:txBody>
      </p:sp>
      <p:sp>
        <p:nvSpPr>
          <p:cNvPr id="12" name="TextBox 11"/>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A Simple Comprehension Algorithm</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822960" y="1005840"/>
            <a:ext cx="10789920" cy="5120640"/>
          </a:xfrm>
          <a:prstGeom prst="rect">
            <a:avLst/>
          </a:prstGeom>
          <a:noFill/>
        </p:spPr>
        <p:txBody>
          <a:bodyPr wrap="square">
            <a:spAutoFit/>
          </a:bodyPr>
          <a:lstStyle/>
          <a:p>
            <a:pPr>
              <a:spcAft>
                <a:spcPts val="900"/>
              </a:spcAft>
              <a:defRPr sz="2000" b="0">
                <a:solidFill>
                  <a:srgbClr val="232A32"/>
                </a:solidFill>
              </a:defRPr>
            </a:pPr>
            <a:r>
              <a:t>STEP 1 — Read the question first. Identify the task word: state / infer / apply / analyse / explain.</a:t>
            </a:r>
          </a:p>
          <a:p>
            <a:pPr>
              <a:spcAft>
                <a:spcPts val="900"/>
              </a:spcAft>
              <a:defRPr sz="2000" b="0">
                <a:solidFill>
                  <a:srgbClr val="232A32"/>
                </a:solidFill>
              </a:defRPr>
            </a:pPr>
            <a:r>
              <a:t>STEP 2 — Locate the relevant sentence or paragraph.</a:t>
            </a:r>
          </a:p>
          <a:p>
            <a:pPr>
              <a:spcAft>
                <a:spcPts val="900"/>
              </a:spcAft>
              <a:defRPr sz="2000" b="0">
                <a:solidFill>
                  <a:srgbClr val="232A32"/>
                </a:solidFill>
              </a:defRPr>
            </a:pPr>
            <a:r>
              <a:t>STEP 3 — Underline the evidence or paraphrase it mentally.</a:t>
            </a:r>
          </a:p>
          <a:p>
            <a:pPr>
              <a:spcAft>
                <a:spcPts val="900"/>
              </a:spcAft>
              <a:defRPr sz="2000" b="0">
                <a:solidFill>
                  <a:srgbClr val="232A32"/>
                </a:solidFill>
              </a:defRPr>
            </a:pPr>
            <a:r>
              <a:t>STEP 4 — Decide whether the answer is explicit or inferred.</a:t>
            </a:r>
          </a:p>
          <a:p>
            <a:pPr>
              <a:spcAft>
                <a:spcPts val="900"/>
              </a:spcAft>
              <a:defRPr sz="2000" b="0">
                <a:solidFill>
                  <a:srgbClr val="232A32"/>
                </a:solidFill>
              </a:defRPr>
            </a:pPr>
            <a:r>
              <a:t>STEP 5 — Eliminate options that are too broad, too narrow, extreme, irrelevant or unsupported.</a:t>
            </a:r>
          </a:p>
          <a:p>
            <a:pPr>
              <a:spcAft>
                <a:spcPts val="900"/>
              </a:spcAft>
              <a:defRPr sz="2000" b="0">
                <a:solidFill>
                  <a:srgbClr val="232A32"/>
                </a:solidFill>
              </a:defRPr>
            </a:pPr>
            <a:r>
              <a:t>STEP 6 — Answer only what the text allows. Do not import outside knowledge unless the question explicitly asks for application.</a:t>
            </a:r>
          </a:p>
        </p:txBody>
      </p:sp>
      <p:sp>
        <p:nvSpPr>
          <p:cNvPr id="7" name="Rounded Rectangle 6"/>
          <p:cNvSpPr/>
          <p:nvPr/>
        </p:nvSpPr>
        <p:spPr>
          <a:xfrm>
            <a:off x="822960" y="5650992"/>
            <a:ext cx="10424160" cy="566928"/>
          </a:xfrm>
          <a:prstGeom prst="roundRect">
            <a:avLst/>
          </a:prstGeom>
          <a:solidFill>
            <a:srgbClr val="FFFFFF"/>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232A32"/>
                </a:solidFill>
              </a:defRPr>
            </a:pPr>
            <a:r>
              <a:rPr lang="en-US"/>
              <a:t>“The correct answer is not the answer you know. It is the answer the text can support.”</a:t>
            </a:r>
            <a:endParaRPr lang="en-US" dirty="0"/>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274"/>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Practice Passage 1 — Digital Convenience</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Rounded Rectangle 5"/>
          <p:cNvSpPr/>
          <p:nvPr/>
        </p:nvSpPr>
        <p:spPr>
          <a:xfrm>
            <a:off x="640080" y="1051560"/>
            <a:ext cx="10927080" cy="2743200"/>
          </a:xfrm>
          <a:prstGeom prst="roundRect">
            <a:avLst/>
          </a:prstGeom>
          <a:solidFill>
            <a:srgbClr val="FFFFFF"/>
          </a:solidFill>
          <a:ln w="19050">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1" y="1161288"/>
            <a:ext cx="10597896" cy="320040"/>
          </a:xfrm>
          <a:prstGeom prst="rect">
            <a:avLst/>
          </a:prstGeom>
          <a:noFill/>
        </p:spPr>
        <p:txBody>
          <a:bodyPr wrap="none">
            <a:spAutoFit/>
          </a:bodyPr>
          <a:lstStyle/>
          <a:p>
            <a:pPr>
              <a:defRPr sz="1600" b="1">
                <a:solidFill>
                  <a:srgbClr val="2A5C91"/>
                </a:solidFill>
              </a:defRPr>
            </a:pPr>
            <a:r>
              <a:t>Read once for meaning</a:t>
            </a:r>
          </a:p>
        </p:txBody>
      </p:sp>
      <p:sp>
        <p:nvSpPr>
          <p:cNvPr id="8" name="TextBox 7"/>
          <p:cNvSpPr txBox="1"/>
          <p:nvPr/>
        </p:nvSpPr>
        <p:spPr>
          <a:xfrm>
            <a:off x="804671" y="1554480"/>
            <a:ext cx="10597896" cy="2121408"/>
          </a:xfrm>
          <a:prstGeom prst="rect">
            <a:avLst/>
          </a:prstGeom>
          <a:noFill/>
        </p:spPr>
        <p:txBody>
          <a:bodyPr wrap="square">
            <a:spAutoFit/>
          </a:bodyPr>
          <a:lstStyle/>
          <a:p>
            <a:pPr>
              <a:defRPr sz="1400">
                <a:solidFill>
                  <a:srgbClr val="232A32"/>
                </a:solidFill>
              </a:defRPr>
            </a:pPr>
            <a:r>
              <a:rPr dirty="0"/>
              <a:t>Many </a:t>
            </a:r>
            <a:r>
              <a:rPr dirty="0" err="1"/>
              <a:t>organisations</a:t>
            </a:r>
            <a:r>
              <a:rPr dirty="0"/>
              <a:t> have adopted AI-based tools to reduce routine work. These tools can </a:t>
            </a:r>
            <a:r>
              <a:rPr dirty="0" err="1"/>
              <a:t>summarise</a:t>
            </a:r>
            <a:r>
              <a:rPr dirty="0"/>
              <a:t> documents, classify information and draft first versions of emails. Yet efficiency does not automatically mean better decisions. A summary can omit a qualification, and a draft can sound confident while containing an incorrect assumption. For this reason, professional users need a second skill alongside tool proficiency: verification. The aim is not to reject automation, but to know when human judgement must remain in the loop.</a:t>
            </a:r>
          </a:p>
        </p:txBody>
      </p:sp>
      <p:sp>
        <p:nvSpPr>
          <p:cNvPr id="9" name="Rounded Rectangle 8"/>
          <p:cNvSpPr/>
          <p:nvPr/>
        </p:nvSpPr>
        <p:spPr>
          <a:xfrm>
            <a:off x="640080" y="4069080"/>
            <a:ext cx="5257800" cy="1417320"/>
          </a:xfrm>
          <a:prstGeom prst="roundRect">
            <a:avLst/>
          </a:prstGeom>
          <a:solidFill>
            <a:srgbClr val="F4F7FA"/>
          </a:solidFill>
          <a:ln w="19050">
            <a:solidFill>
              <a:srgbClr val="2179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1" y="4178808"/>
            <a:ext cx="4928616" cy="320040"/>
          </a:xfrm>
          <a:prstGeom prst="rect">
            <a:avLst/>
          </a:prstGeom>
          <a:noFill/>
        </p:spPr>
        <p:txBody>
          <a:bodyPr wrap="none">
            <a:spAutoFit/>
          </a:bodyPr>
          <a:lstStyle/>
          <a:p>
            <a:pPr>
              <a:defRPr sz="1600" b="1">
                <a:solidFill>
                  <a:srgbClr val="217978"/>
                </a:solidFill>
              </a:defRPr>
            </a:pPr>
            <a:r>
              <a:t>Mark the text</a:t>
            </a:r>
          </a:p>
        </p:txBody>
      </p:sp>
      <p:sp>
        <p:nvSpPr>
          <p:cNvPr id="11" name="TextBox 10"/>
          <p:cNvSpPr txBox="1"/>
          <p:nvPr/>
        </p:nvSpPr>
        <p:spPr>
          <a:xfrm>
            <a:off x="804671" y="4572000"/>
            <a:ext cx="4928616" cy="795528"/>
          </a:xfrm>
          <a:prstGeom prst="rect">
            <a:avLst/>
          </a:prstGeom>
          <a:noFill/>
        </p:spPr>
        <p:txBody>
          <a:bodyPr wrap="square">
            <a:spAutoFit/>
          </a:bodyPr>
          <a:lstStyle/>
          <a:p>
            <a:pPr>
              <a:defRPr sz="1400">
                <a:solidFill>
                  <a:srgbClr val="232A32"/>
                </a:solidFill>
              </a:defRPr>
            </a:pPr>
            <a:r>
              <a:t>Circle the main claim. Underline one supporting reason. Put a star beside the sentence that introduces the solution.</a:t>
            </a:r>
          </a:p>
        </p:txBody>
      </p:sp>
      <p:sp>
        <p:nvSpPr>
          <p:cNvPr id="12" name="Rounded Rectangle 11"/>
          <p:cNvSpPr/>
          <p:nvPr/>
        </p:nvSpPr>
        <p:spPr>
          <a:xfrm>
            <a:off x="6263640" y="4069080"/>
            <a:ext cx="5303520" cy="1417320"/>
          </a:xfrm>
          <a:prstGeom prst="roundRect">
            <a:avLst/>
          </a:prstGeom>
          <a:solidFill>
            <a:srgbClr val="F4F7FA"/>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28231" y="4178808"/>
            <a:ext cx="4974336" cy="320040"/>
          </a:xfrm>
          <a:prstGeom prst="rect">
            <a:avLst/>
          </a:prstGeom>
          <a:noFill/>
        </p:spPr>
        <p:txBody>
          <a:bodyPr wrap="none">
            <a:spAutoFit/>
          </a:bodyPr>
          <a:lstStyle/>
          <a:p>
            <a:pPr>
              <a:defRPr sz="1600" b="1">
                <a:solidFill>
                  <a:srgbClr val="E0A337"/>
                </a:solidFill>
              </a:defRPr>
            </a:pPr>
            <a:r>
              <a:t>Think before answering</a:t>
            </a:r>
          </a:p>
        </p:txBody>
      </p:sp>
      <p:sp>
        <p:nvSpPr>
          <p:cNvPr id="14" name="TextBox 13"/>
          <p:cNvSpPr txBox="1"/>
          <p:nvPr/>
        </p:nvSpPr>
        <p:spPr>
          <a:xfrm>
            <a:off x="6428231" y="4572000"/>
            <a:ext cx="4974336" cy="795528"/>
          </a:xfrm>
          <a:prstGeom prst="rect">
            <a:avLst/>
          </a:prstGeom>
          <a:noFill/>
        </p:spPr>
        <p:txBody>
          <a:bodyPr wrap="square">
            <a:spAutoFit/>
          </a:bodyPr>
          <a:lstStyle/>
          <a:p>
            <a:pPr>
              <a:defRPr sz="1400">
                <a:solidFill>
                  <a:srgbClr val="232A32"/>
                </a:solidFill>
              </a:defRPr>
            </a:pPr>
            <a:r>
              <a:t>What problem is the writer warning about? Is the writer anti-AI? What evidence supports your answer?</a:t>
            </a:r>
          </a:p>
        </p:txBody>
      </p:sp>
      <p:sp>
        <p:nvSpPr>
          <p:cNvPr id="15" name="TextBox 14"/>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Passage 1 — Understanding Questions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Rounded Rectangle 5"/>
          <p:cNvSpPr/>
          <p:nvPr/>
        </p:nvSpPr>
        <p:spPr>
          <a:xfrm>
            <a:off x="640080" y="1097280"/>
            <a:ext cx="10927080" cy="1417320"/>
          </a:xfrm>
          <a:prstGeom prst="roundRect">
            <a:avLst/>
          </a:prstGeom>
          <a:solidFill>
            <a:srgbClr val="FFFFFF"/>
          </a:solidFill>
          <a:ln>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325880"/>
            <a:ext cx="10469880" cy="960120"/>
          </a:xfrm>
          <a:prstGeom prst="rect">
            <a:avLst/>
          </a:prstGeom>
          <a:noFill/>
        </p:spPr>
        <p:txBody>
          <a:bodyPr wrap="none">
            <a:spAutoFit/>
          </a:bodyPr>
          <a:lstStyle/>
          <a:p>
            <a:pPr>
              <a:defRPr sz="2200" b="1">
                <a:solidFill>
                  <a:srgbClr val="232A32"/>
                </a:solidFill>
              </a:defRPr>
            </a:pPr>
            <a:r>
              <a:t>Q1. Which TWO tasks are explicitly mentioned as uses of AI-based tools?</a:t>
            </a:r>
          </a:p>
        </p:txBody>
      </p:sp>
      <p:sp>
        <p:nvSpPr>
          <p:cNvPr id="8" name="TextBox 7"/>
          <p:cNvSpPr txBox="1"/>
          <p:nvPr/>
        </p:nvSpPr>
        <p:spPr>
          <a:xfrm>
            <a:off x="868680" y="2743200"/>
            <a:ext cx="10241280" cy="2560320"/>
          </a:xfrm>
          <a:prstGeom prst="rect">
            <a:avLst/>
          </a:prstGeom>
          <a:noFill/>
        </p:spPr>
        <p:txBody>
          <a:bodyPr wrap="square">
            <a:spAutoFit/>
          </a:bodyPr>
          <a:lstStyle/>
          <a:p>
            <a:pPr>
              <a:spcAft>
                <a:spcPts val="900"/>
              </a:spcAft>
              <a:defRPr sz="1900" b="0">
                <a:solidFill>
                  <a:srgbClr val="232A32"/>
                </a:solidFill>
              </a:defRPr>
            </a:pPr>
            <a:r>
              <a:t>A. Conducting interviews</a:t>
            </a:r>
          </a:p>
          <a:p>
            <a:pPr>
              <a:spcAft>
                <a:spcPts val="900"/>
              </a:spcAft>
              <a:defRPr sz="1900" b="0">
                <a:solidFill>
                  <a:srgbClr val="232A32"/>
                </a:solidFill>
              </a:defRPr>
            </a:pPr>
            <a:r>
              <a:t>B. Summarising documents</a:t>
            </a:r>
          </a:p>
          <a:p>
            <a:pPr>
              <a:spcAft>
                <a:spcPts val="900"/>
              </a:spcAft>
              <a:defRPr sz="1900" b="0">
                <a:solidFill>
                  <a:srgbClr val="232A32"/>
                </a:solidFill>
              </a:defRPr>
            </a:pPr>
            <a:r>
              <a:t>C. Classifying information</a:t>
            </a:r>
          </a:p>
          <a:p>
            <a:pPr>
              <a:spcAft>
                <a:spcPts val="900"/>
              </a:spcAft>
              <a:defRPr sz="1900" b="0">
                <a:solidFill>
                  <a:srgbClr val="232A32"/>
                </a:solidFill>
              </a:defRPr>
            </a:pPr>
            <a:r>
              <a:t>D. Managing employee emotions</a:t>
            </a:r>
          </a:p>
        </p:txBody>
      </p:sp>
      <p:sp>
        <p:nvSpPr>
          <p:cNvPr id="9" name="Rounded Rectangle 8"/>
          <p:cNvSpPr/>
          <p:nvPr/>
        </p:nvSpPr>
        <p:spPr>
          <a:xfrm>
            <a:off x="731520" y="5029200"/>
            <a:ext cx="10698480" cy="914400"/>
          </a:xfrm>
          <a:prstGeom prst="roundRect">
            <a:avLst/>
          </a:prstGeom>
          <a:solidFill>
            <a:srgbClr val="F4F7FA"/>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8" y="42946"/>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Passage 1 — Inference &amp; Analysis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Rounded Rectangle 5"/>
          <p:cNvSpPr/>
          <p:nvPr/>
        </p:nvSpPr>
        <p:spPr>
          <a:xfrm>
            <a:off x="640080" y="1097280"/>
            <a:ext cx="10927080" cy="1417320"/>
          </a:xfrm>
          <a:prstGeom prst="roundRect">
            <a:avLst/>
          </a:prstGeom>
          <a:solidFill>
            <a:srgbClr val="FFFFFF"/>
          </a:solidFill>
          <a:ln>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325880"/>
            <a:ext cx="10469880" cy="960120"/>
          </a:xfrm>
          <a:prstGeom prst="rect">
            <a:avLst/>
          </a:prstGeom>
          <a:noFill/>
        </p:spPr>
        <p:txBody>
          <a:bodyPr wrap="none">
            <a:spAutoFit/>
          </a:bodyPr>
          <a:lstStyle/>
          <a:p>
            <a:pPr>
              <a:defRPr sz="2200" b="1">
                <a:solidFill>
                  <a:srgbClr val="232A32"/>
                </a:solidFill>
              </a:defRPr>
            </a:pPr>
            <a:r>
              <a:t>Q2. What can reasonably be inferred about the writer's position on automation?</a:t>
            </a:r>
          </a:p>
        </p:txBody>
      </p:sp>
      <p:sp>
        <p:nvSpPr>
          <p:cNvPr id="8" name="TextBox 7"/>
          <p:cNvSpPr txBox="1"/>
          <p:nvPr/>
        </p:nvSpPr>
        <p:spPr>
          <a:xfrm>
            <a:off x="868680" y="2743200"/>
            <a:ext cx="10241280" cy="2560320"/>
          </a:xfrm>
          <a:prstGeom prst="rect">
            <a:avLst/>
          </a:prstGeom>
          <a:noFill/>
        </p:spPr>
        <p:txBody>
          <a:bodyPr wrap="square">
            <a:spAutoFit/>
          </a:bodyPr>
          <a:lstStyle/>
          <a:p>
            <a:pPr>
              <a:spcAft>
                <a:spcPts val="900"/>
              </a:spcAft>
              <a:defRPr sz="1900" b="0">
                <a:solidFill>
                  <a:srgbClr val="232A32"/>
                </a:solidFill>
              </a:defRPr>
            </a:pPr>
            <a:r>
              <a:t>A. Automation should be rejected in professional settings.</a:t>
            </a:r>
          </a:p>
          <a:p>
            <a:pPr>
              <a:spcAft>
                <a:spcPts val="900"/>
              </a:spcAft>
              <a:defRPr sz="1900" b="0">
                <a:solidFill>
                  <a:srgbClr val="232A32"/>
                </a:solidFill>
              </a:defRPr>
            </a:pPr>
            <a:r>
              <a:t>B. Automation is useful, but human verification remains necessary.</a:t>
            </a:r>
          </a:p>
          <a:p>
            <a:pPr>
              <a:spcAft>
                <a:spcPts val="900"/>
              </a:spcAft>
              <a:defRPr sz="1900" b="0">
                <a:solidFill>
                  <a:srgbClr val="232A32"/>
                </a:solidFill>
              </a:defRPr>
            </a:pPr>
            <a:r>
              <a:t>C. Automation always improves decision quality.</a:t>
            </a:r>
          </a:p>
          <a:p>
            <a:pPr>
              <a:spcAft>
                <a:spcPts val="900"/>
              </a:spcAft>
              <a:defRPr sz="1900" b="0">
                <a:solidFill>
                  <a:srgbClr val="232A32"/>
                </a:solidFill>
              </a:defRPr>
            </a:pPr>
            <a:r>
              <a:t>D. Professionals should use AI without checking its output.</a:t>
            </a:r>
          </a:p>
        </p:txBody>
      </p:sp>
      <p:sp>
        <p:nvSpPr>
          <p:cNvPr id="9" name="Rounded Rectangle 8"/>
          <p:cNvSpPr/>
          <p:nvPr/>
        </p:nvSpPr>
        <p:spPr>
          <a:xfrm>
            <a:off x="731520" y="5029200"/>
            <a:ext cx="10698480" cy="914400"/>
          </a:xfrm>
          <a:prstGeom prst="roundRect">
            <a:avLst/>
          </a:prstGeom>
          <a:solidFill>
            <a:srgbClr val="F4F7FA"/>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5532120"/>
            <a:ext cx="10369296" cy="307777"/>
          </a:xfrm>
          <a:prstGeom prst="rect">
            <a:avLst/>
          </a:prstGeom>
          <a:noFill/>
        </p:spPr>
        <p:txBody>
          <a:bodyPr wrap="square">
            <a:spAutoFit/>
          </a:bodyPr>
          <a:lstStyle/>
          <a:p>
            <a:pPr>
              <a:defRPr sz="1400">
                <a:solidFill>
                  <a:srgbClr val="232A32"/>
                </a:solidFill>
              </a:defRPr>
            </a:pPr>
            <a:r>
              <a:rPr dirty="0"/>
              <a:t>Which option is directly supported by MORE THAN ONE sentence?</a:t>
            </a:r>
          </a:p>
        </p:txBody>
      </p:sp>
      <p:sp>
        <p:nvSpPr>
          <p:cNvPr id="12" name="TextBox 11"/>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Passage 1 — Application Task</a:t>
            </a:r>
          </a:p>
        </p:txBody>
      </p:sp>
      <p:sp>
        <p:nvSpPr>
          <p:cNvPr id="4" name="TextBox 3"/>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5" name="Rounded Rectangle 4"/>
          <p:cNvSpPr/>
          <p:nvPr/>
        </p:nvSpPr>
        <p:spPr>
          <a:xfrm>
            <a:off x="640080" y="1097280"/>
            <a:ext cx="10927080" cy="1417320"/>
          </a:xfrm>
          <a:prstGeom prst="roundRect">
            <a:avLst/>
          </a:prstGeom>
          <a:solidFill>
            <a:srgbClr val="FFFFFF"/>
          </a:solidFill>
          <a:ln>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325880"/>
            <a:ext cx="8595360" cy="769441"/>
          </a:xfrm>
          <a:prstGeom prst="rect">
            <a:avLst/>
          </a:prstGeom>
          <a:noFill/>
        </p:spPr>
        <p:txBody>
          <a:bodyPr wrap="square">
            <a:spAutoFit/>
          </a:bodyPr>
          <a:lstStyle/>
          <a:p>
            <a:pPr>
              <a:defRPr sz="2200" b="1">
                <a:solidFill>
                  <a:srgbClr val="232A32"/>
                </a:solidFill>
              </a:defRPr>
            </a:pPr>
            <a:r>
              <a:rPr dirty="0"/>
              <a:t>Q3. A student uses an AI tool to draft a client email and sends it without checking. Which principle from the passage applies most directly?</a:t>
            </a:r>
          </a:p>
        </p:txBody>
      </p:sp>
      <p:sp>
        <p:nvSpPr>
          <p:cNvPr id="7" name="TextBox 6"/>
          <p:cNvSpPr txBox="1"/>
          <p:nvPr/>
        </p:nvSpPr>
        <p:spPr>
          <a:xfrm>
            <a:off x="868680" y="2743200"/>
            <a:ext cx="10241280" cy="2560320"/>
          </a:xfrm>
          <a:prstGeom prst="rect">
            <a:avLst/>
          </a:prstGeom>
          <a:noFill/>
        </p:spPr>
        <p:txBody>
          <a:bodyPr wrap="square">
            <a:spAutoFit/>
          </a:bodyPr>
          <a:lstStyle/>
          <a:p>
            <a:pPr>
              <a:spcAft>
                <a:spcPts val="900"/>
              </a:spcAft>
              <a:defRPr sz="1900" b="0">
                <a:solidFill>
                  <a:srgbClr val="232A32"/>
                </a:solidFill>
              </a:defRPr>
            </a:pPr>
            <a:r>
              <a:t>A. Efficiency is always more important than accuracy.</a:t>
            </a:r>
          </a:p>
          <a:p>
            <a:pPr>
              <a:spcAft>
                <a:spcPts val="900"/>
              </a:spcAft>
              <a:defRPr sz="1900" b="0">
                <a:solidFill>
                  <a:srgbClr val="232A32"/>
                </a:solidFill>
              </a:defRPr>
            </a:pPr>
            <a:r>
              <a:t>B. Tool proficiency is sufficient for professional communication.</a:t>
            </a:r>
          </a:p>
          <a:p>
            <a:pPr>
              <a:spcAft>
                <a:spcPts val="900"/>
              </a:spcAft>
              <a:defRPr sz="1900" b="0">
                <a:solidFill>
                  <a:srgbClr val="232A32"/>
                </a:solidFill>
              </a:defRPr>
            </a:pPr>
            <a:r>
              <a:t>C. Human verification should accompany automation when judgement is required.</a:t>
            </a:r>
          </a:p>
          <a:p>
            <a:pPr>
              <a:spcAft>
                <a:spcPts val="900"/>
              </a:spcAft>
              <a:defRPr sz="1900" b="0">
                <a:solidFill>
                  <a:srgbClr val="232A32"/>
                </a:solidFill>
              </a:defRPr>
            </a:pPr>
            <a:r>
              <a:t>D. AI should only be used for entertainment.</a:t>
            </a:r>
          </a:p>
        </p:txBody>
      </p:sp>
      <p:sp>
        <p:nvSpPr>
          <p:cNvPr id="8" name="Rounded Rectangle 7"/>
          <p:cNvSpPr/>
          <p:nvPr/>
        </p:nvSpPr>
        <p:spPr>
          <a:xfrm>
            <a:off x="731520" y="5029200"/>
            <a:ext cx="10698480" cy="914400"/>
          </a:xfrm>
          <a:prstGeom prst="roundRect">
            <a:avLst/>
          </a:prstGeom>
          <a:solidFill>
            <a:srgbClr val="F4F7FA"/>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5532120"/>
            <a:ext cx="10369296" cy="292607"/>
          </a:xfrm>
          <a:prstGeom prst="rect">
            <a:avLst/>
          </a:prstGeom>
          <a:noFill/>
        </p:spPr>
        <p:txBody>
          <a:bodyPr wrap="square">
            <a:spAutoFit/>
          </a:bodyPr>
          <a:lstStyle/>
          <a:p>
            <a:pPr>
              <a:defRPr sz="1400">
                <a:solidFill>
                  <a:srgbClr val="232A32"/>
                </a:solidFill>
              </a:defRPr>
            </a:pPr>
            <a:r>
              <a:t>Write a 2-sentence justification using evidence from the passage.</a:t>
            </a:r>
          </a:p>
        </p:txBody>
      </p:sp>
      <p:sp>
        <p:nvSpPr>
          <p:cNvPr id="11" name="TextBox 10"/>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Passage 1 — Analyse the Argument</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Rounded Rectangle 5"/>
          <p:cNvSpPr/>
          <p:nvPr/>
        </p:nvSpPr>
        <p:spPr>
          <a:xfrm>
            <a:off x="548640" y="1097280"/>
            <a:ext cx="5440680" cy="4892040"/>
          </a:xfrm>
          <a:prstGeom prst="roundRect">
            <a:avLst/>
          </a:prstGeom>
          <a:solidFill>
            <a:srgbClr val="FFFFFF"/>
          </a:solidFill>
          <a:ln w="19050">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207007"/>
            <a:ext cx="5111496" cy="320040"/>
          </a:xfrm>
          <a:prstGeom prst="rect">
            <a:avLst/>
          </a:prstGeom>
          <a:noFill/>
        </p:spPr>
        <p:txBody>
          <a:bodyPr wrap="none">
            <a:spAutoFit/>
          </a:bodyPr>
          <a:lstStyle/>
          <a:p>
            <a:pPr>
              <a:defRPr sz="1600" b="1">
                <a:solidFill>
                  <a:srgbClr val="2A5C91"/>
                </a:solidFill>
              </a:defRPr>
            </a:pPr>
            <a:r>
              <a:t>Argument map</a:t>
            </a:r>
          </a:p>
        </p:txBody>
      </p:sp>
      <p:sp>
        <p:nvSpPr>
          <p:cNvPr id="8" name="TextBox 7"/>
          <p:cNvSpPr txBox="1"/>
          <p:nvPr/>
        </p:nvSpPr>
        <p:spPr>
          <a:xfrm>
            <a:off x="713232" y="1600200"/>
            <a:ext cx="5111496" cy="4270248"/>
          </a:xfrm>
          <a:prstGeom prst="rect">
            <a:avLst/>
          </a:prstGeom>
          <a:noFill/>
        </p:spPr>
        <p:txBody>
          <a:bodyPr wrap="square">
            <a:spAutoFit/>
          </a:bodyPr>
          <a:lstStyle/>
          <a:p>
            <a:pPr>
              <a:defRPr sz="1400">
                <a:solidFill>
                  <a:srgbClr val="232A32"/>
                </a:solidFill>
              </a:defRPr>
            </a:pPr>
            <a:r>
              <a:t>• Problem / caution: efficiency ≠ better decisions</a:t>
            </a:r>
            <a:br/>
            <a:r>
              <a:t>• Examples: summaries may omit qualifications; drafts may contain assumptions</a:t>
            </a:r>
            <a:br/>
            <a:r>
              <a:t>• Principle: professional users need verification</a:t>
            </a:r>
            <a:br/>
            <a:r>
              <a:t>• Conclusion: automation + human judgement</a:t>
            </a:r>
          </a:p>
        </p:txBody>
      </p:sp>
      <p:sp>
        <p:nvSpPr>
          <p:cNvPr id="9" name="Rounded Rectangle 8"/>
          <p:cNvSpPr/>
          <p:nvPr/>
        </p:nvSpPr>
        <p:spPr>
          <a:xfrm>
            <a:off x="6217920" y="1097280"/>
            <a:ext cx="5440680" cy="4892040"/>
          </a:xfrm>
          <a:prstGeom prst="roundRect">
            <a:avLst/>
          </a:prstGeom>
          <a:solidFill>
            <a:srgbClr val="FFFFFF"/>
          </a:solidFill>
          <a:ln w="19050">
            <a:solidFill>
              <a:srgbClr val="2179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1207007"/>
            <a:ext cx="5111496" cy="320040"/>
          </a:xfrm>
          <a:prstGeom prst="rect">
            <a:avLst/>
          </a:prstGeom>
          <a:noFill/>
        </p:spPr>
        <p:txBody>
          <a:bodyPr wrap="none">
            <a:spAutoFit/>
          </a:bodyPr>
          <a:lstStyle/>
          <a:p>
            <a:pPr>
              <a:defRPr sz="1600" b="1">
                <a:solidFill>
                  <a:srgbClr val="217978"/>
                </a:solidFill>
              </a:defRPr>
            </a:pPr>
            <a:r>
              <a:t>Analysis questions</a:t>
            </a:r>
          </a:p>
        </p:txBody>
      </p:sp>
      <p:sp>
        <p:nvSpPr>
          <p:cNvPr id="11" name="TextBox 10"/>
          <p:cNvSpPr txBox="1"/>
          <p:nvPr/>
        </p:nvSpPr>
        <p:spPr>
          <a:xfrm>
            <a:off x="6382512" y="1600200"/>
            <a:ext cx="5111496" cy="4270248"/>
          </a:xfrm>
          <a:prstGeom prst="rect">
            <a:avLst/>
          </a:prstGeom>
          <a:noFill/>
        </p:spPr>
        <p:txBody>
          <a:bodyPr wrap="square">
            <a:spAutoFit/>
          </a:bodyPr>
          <a:lstStyle/>
          <a:p>
            <a:pPr>
              <a:defRPr sz="1400">
                <a:solidFill>
                  <a:srgbClr val="232A32"/>
                </a:solidFill>
              </a:defRPr>
            </a:pPr>
            <a:r>
              <a:t>• What assumption is the writer making?</a:t>
            </a:r>
            <a:br/>
            <a:r>
              <a:t>• Why are the two examples included?</a:t>
            </a:r>
            <a:br/>
            <a:r>
              <a:t>• Does the passage claim AI is always unreliable? Why / why not?</a:t>
            </a:r>
            <a:br/>
            <a:r>
              <a:t>• What is the writer's purpose: inform, warn, persuade, entertain?</a:t>
            </a:r>
          </a:p>
        </p:txBody>
      </p:sp>
      <p:sp>
        <p:nvSpPr>
          <p:cNvPr id="12" name="TextBox 11"/>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Passage 1 — Answer Key &amp; Teaching Explanation</a:t>
            </a:r>
          </a:p>
        </p:txBody>
      </p:sp>
      <p:sp>
        <p:nvSpPr>
          <p:cNvPr id="5" name="TextBox 4"/>
          <p:cNvSpPr txBox="1"/>
          <p:nvPr/>
        </p:nvSpPr>
        <p:spPr>
          <a:xfrm>
            <a:off x="9144000" y="137160"/>
            <a:ext cx="2560320" cy="320040"/>
          </a:xfrm>
          <a:prstGeom prst="rect">
            <a:avLst/>
          </a:prstGeom>
          <a:noFill/>
        </p:spPr>
        <p:txBody>
          <a:bodyPr wrap="none">
            <a:spAutoFit/>
          </a:bodyPr>
          <a:lstStyle/>
          <a:p>
            <a:pPr algn="r">
              <a:defRPr sz="1000">
                <a:solidFill>
                  <a:srgbClr val="DCE6F0"/>
                </a:solidFill>
              </a:defRPr>
            </a:pPr>
            <a:r>
              <a:t>Do not show before discussion</a:t>
            </a:r>
          </a:p>
        </p:txBody>
      </p:sp>
      <p:sp>
        <p:nvSpPr>
          <p:cNvPr id="6" name="TextBox 5"/>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7" name="TextBox 6"/>
          <p:cNvSpPr txBox="1"/>
          <p:nvPr/>
        </p:nvSpPr>
        <p:spPr>
          <a:xfrm>
            <a:off x="685800" y="1143000"/>
            <a:ext cx="10789920" cy="5029200"/>
          </a:xfrm>
          <a:prstGeom prst="rect">
            <a:avLst/>
          </a:prstGeom>
          <a:noFill/>
        </p:spPr>
        <p:txBody>
          <a:bodyPr wrap="square">
            <a:spAutoFit/>
          </a:bodyPr>
          <a:lstStyle/>
          <a:p>
            <a:pPr>
              <a:spcAft>
                <a:spcPts val="900"/>
              </a:spcAft>
              <a:defRPr sz="2000" b="0">
                <a:solidFill>
                  <a:srgbClr val="232A32"/>
                </a:solidFill>
              </a:defRPr>
            </a:pPr>
            <a:r>
              <a:t>Q1 → B and C. Both are explicitly stated: “summarise documents” and “classify information.”</a:t>
            </a:r>
          </a:p>
          <a:p>
            <a:pPr>
              <a:spcAft>
                <a:spcPts val="900"/>
              </a:spcAft>
              <a:defRPr sz="2000" b="0">
                <a:solidFill>
                  <a:srgbClr val="232A32"/>
                </a:solidFill>
              </a:defRPr>
            </a:pPr>
            <a:r>
              <a:t>Q2 → B. The writer acknowledges benefits but stresses verification; this is a balanced position, not rejection.</a:t>
            </a:r>
          </a:p>
          <a:p>
            <a:pPr>
              <a:spcAft>
                <a:spcPts val="900"/>
              </a:spcAft>
              <a:defRPr sz="2000" b="0">
                <a:solidFill>
                  <a:srgbClr val="232A32"/>
                </a:solidFill>
              </a:defRPr>
            </a:pPr>
            <a:r>
              <a:t>Q3 → C. The new situation is an application of the principle “verification” to a client email.</a:t>
            </a:r>
          </a:p>
          <a:p>
            <a:pPr>
              <a:spcAft>
                <a:spcPts val="900"/>
              </a:spcAft>
              <a:defRPr sz="2000" b="0">
                <a:solidFill>
                  <a:srgbClr val="232A32"/>
                </a:solidFill>
              </a:defRPr>
            </a:pPr>
            <a:r>
              <a:t>Analysis: The writer assumes that professional decisions can be affected by omissions or incorrect assumptions in automated output.</a:t>
            </a:r>
          </a:p>
          <a:p>
            <a:pPr>
              <a:spcAft>
                <a:spcPts val="900"/>
              </a:spcAft>
              <a:defRPr sz="2000" b="0">
                <a:solidFill>
                  <a:srgbClr val="232A32"/>
                </a:solidFill>
              </a:defRPr>
            </a:pPr>
            <a:r>
              <a:t>Tone: cautious / pragmatic / balanced — not anti-technology.</a:t>
            </a:r>
          </a:p>
          <a:p>
            <a:pPr>
              <a:spcAft>
                <a:spcPts val="900"/>
              </a:spcAft>
              <a:defRPr sz="2000" b="0">
                <a:solidFill>
                  <a:srgbClr val="232A32"/>
                </a:solidFill>
              </a:defRPr>
            </a:pPr>
            <a:r>
              <a:t>Teaching point: inference must be anchored in textual evidence; it is not guesswork.</a:t>
            </a:r>
          </a:p>
        </p:txBody>
      </p:sp>
      <p:sp>
        <p:nvSpPr>
          <p:cNvPr id="8" name="TextBox 7"/>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Practice Passage 2 — Remote Work &amp; Communication</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Rounded Rectangle 5"/>
          <p:cNvSpPr/>
          <p:nvPr/>
        </p:nvSpPr>
        <p:spPr>
          <a:xfrm>
            <a:off x="640080" y="1097280"/>
            <a:ext cx="10927080" cy="2743200"/>
          </a:xfrm>
          <a:prstGeom prst="roundRect">
            <a:avLst/>
          </a:prstGeom>
          <a:solidFill>
            <a:srgbClr val="FFFFFF"/>
          </a:solidFill>
          <a:ln w="19050">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1" y="1207007"/>
            <a:ext cx="10597896" cy="320040"/>
          </a:xfrm>
          <a:prstGeom prst="rect">
            <a:avLst/>
          </a:prstGeom>
          <a:noFill/>
        </p:spPr>
        <p:txBody>
          <a:bodyPr wrap="none">
            <a:spAutoFit/>
          </a:bodyPr>
          <a:lstStyle/>
          <a:p>
            <a:pPr>
              <a:defRPr sz="1600" b="1">
                <a:solidFill>
                  <a:srgbClr val="2A5C91"/>
                </a:solidFill>
              </a:defRPr>
            </a:pPr>
            <a:r>
              <a:t>Read and annotate</a:t>
            </a:r>
          </a:p>
        </p:txBody>
      </p:sp>
      <p:sp>
        <p:nvSpPr>
          <p:cNvPr id="8" name="TextBox 7"/>
          <p:cNvSpPr txBox="1"/>
          <p:nvPr/>
        </p:nvSpPr>
        <p:spPr>
          <a:xfrm>
            <a:off x="804671" y="1600200"/>
            <a:ext cx="10597896" cy="2121408"/>
          </a:xfrm>
          <a:prstGeom prst="rect">
            <a:avLst/>
          </a:prstGeom>
          <a:noFill/>
        </p:spPr>
        <p:txBody>
          <a:bodyPr wrap="square">
            <a:spAutoFit/>
          </a:bodyPr>
          <a:lstStyle/>
          <a:p>
            <a:pPr>
              <a:defRPr sz="1400">
                <a:solidFill>
                  <a:srgbClr val="232A32"/>
                </a:solidFill>
              </a:defRPr>
            </a:pPr>
            <a:r>
              <a:t>Remote work has made written communication more important because colleagues cannot always rely on quick face-to-face clarification. A vague message may create several interpretations, while a well-structured message can reduce unnecessary exchanges. However, clarity does not mean writing long messages. In professional settings, effective writers identify the purpose, provide the necessary context, state the action required and make deadlines visible. Concise writing is therefore not simply short writing; it is writing in which every sentence performs a useful function.</a:t>
            </a:r>
          </a:p>
        </p:txBody>
      </p:sp>
      <p:sp>
        <p:nvSpPr>
          <p:cNvPr id="9" name="Rounded Rectangle 8"/>
          <p:cNvSpPr/>
          <p:nvPr/>
        </p:nvSpPr>
        <p:spPr>
          <a:xfrm>
            <a:off x="640080" y="4114800"/>
            <a:ext cx="10927080" cy="1234440"/>
          </a:xfrm>
          <a:prstGeom prst="roundRect">
            <a:avLst/>
          </a:prstGeom>
          <a:solidFill>
            <a:srgbClr val="F4F7FA"/>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1" y="4224528"/>
            <a:ext cx="10597896" cy="320040"/>
          </a:xfrm>
          <a:prstGeom prst="rect">
            <a:avLst/>
          </a:prstGeom>
          <a:noFill/>
        </p:spPr>
        <p:txBody>
          <a:bodyPr wrap="none">
            <a:spAutoFit/>
          </a:bodyPr>
          <a:lstStyle/>
          <a:p>
            <a:pPr>
              <a:defRPr sz="1600" b="1">
                <a:solidFill>
                  <a:srgbClr val="E0A337"/>
                </a:solidFill>
              </a:defRPr>
            </a:pPr>
            <a:r>
              <a:t>Challenge</a:t>
            </a:r>
          </a:p>
        </p:txBody>
      </p:sp>
      <p:sp>
        <p:nvSpPr>
          <p:cNvPr id="11" name="TextBox 10"/>
          <p:cNvSpPr txBox="1"/>
          <p:nvPr/>
        </p:nvSpPr>
        <p:spPr>
          <a:xfrm>
            <a:off x="804671" y="4617720"/>
            <a:ext cx="10597896" cy="612648"/>
          </a:xfrm>
          <a:prstGeom prst="rect">
            <a:avLst/>
          </a:prstGeom>
          <a:noFill/>
        </p:spPr>
        <p:txBody>
          <a:bodyPr wrap="square">
            <a:spAutoFit/>
          </a:bodyPr>
          <a:lstStyle/>
          <a:p>
            <a:pPr>
              <a:defRPr sz="1400">
                <a:solidFill>
                  <a:srgbClr val="232A32"/>
                </a:solidFill>
              </a:defRPr>
            </a:pPr>
            <a:r>
              <a:t>Find the sentence that DEFINES what concise writing means. Then explain the difference between “short” and “concise.”</a:t>
            </a:r>
          </a:p>
        </p:txBody>
      </p:sp>
      <p:sp>
        <p:nvSpPr>
          <p:cNvPr id="12" name="TextBox 11"/>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Passage 2 — Application &amp; Analysis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85800" y="1097280"/>
            <a:ext cx="10789920" cy="5074920"/>
          </a:xfrm>
          <a:prstGeom prst="rect">
            <a:avLst/>
          </a:prstGeom>
          <a:noFill/>
        </p:spPr>
        <p:txBody>
          <a:bodyPr wrap="square">
            <a:spAutoFit/>
          </a:bodyPr>
          <a:lstStyle/>
          <a:p>
            <a:pPr>
              <a:spcAft>
                <a:spcPts val="900"/>
              </a:spcAft>
              <a:defRPr sz="1900" b="0">
                <a:solidFill>
                  <a:srgbClr val="232A32"/>
                </a:solidFill>
              </a:defRPr>
            </a:pPr>
            <a:r>
              <a:t>1. A team member sends: “Please do the needful ASAP.” What information is missing?</a:t>
            </a:r>
          </a:p>
          <a:p>
            <a:pPr>
              <a:spcAft>
                <a:spcPts val="900"/>
              </a:spcAft>
              <a:defRPr sz="1900" b="0">
                <a:solidFill>
                  <a:srgbClr val="232A32"/>
                </a:solidFill>
              </a:defRPr>
            </a:pPr>
            <a:r>
              <a:t>2. Rewrite the message using the passage's four-part framework: purpose + context + action + deadline.</a:t>
            </a:r>
          </a:p>
          <a:p>
            <a:pPr>
              <a:spcAft>
                <a:spcPts val="900"/>
              </a:spcAft>
              <a:defRPr sz="1900" b="0">
                <a:solidFill>
                  <a:srgbClr val="232A32"/>
                </a:solidFill>
              </a:defRPr>
            </a:pPr>
            <a:r>
              <a:t>3. Analyse the statement: “Concise writing is not simply short writing.” What distinction is being made?</a:t>
            </a:r>
          </a:p>
          <a:p>
            <a:pPr>
              <a:spcAft>
                <a:spcPts val="900"/>
              </a:spcAft>
              <a:defRPr sz="1900" b="0">
                <a:solidFill>
                  <a:srgbClr val="232A32"/>
                </a:solidFill>
              </a:defRPr>
            </a:pPr>
            <a:r>
              <a:t>4. Which is the stronger professional message, and why?</a:t>
            </a:r>
          </a:p>
          <a:p>
            <a:pPr lvl="1">
              <a:spcAft>
                <a:spcPts val="400"/>
              </a:spcAft>
              <a:defRPr sz="1700">
                <a:solidFill>
                  <a:srgbClr val="232A32"/>
                </a:solidFill>
              </a:defRPr>
            </a:pPr>
            <a:r>
              <a:t>A: “Need this report quickly.”</a:t>
            </a:r>
          </a:p>
          <a:p>
            <a:pPr lvl="1">
              <a:spcAft>
                <a:spcPts val="400"/>
              </a:spcAft>
              <a:defRPr sz="1700">
                <a:solidFill>
                  <a:srgbClr val="232A32"/>
                </a:solidFill>
              </a:defRPr>
            </a:pPr>
            <a:r>
              <a:t>B: “Please send the revised sales report by 4 PM today so I can incorporate the figures into the client presentation.”</a:t>
            </a:r>
          </a:p>
        </p:txBody>
      </p:sp>
      <p:sp>
        <p:nvSpPr>
          <p:cNvPr id="7" name="TextBox 6"/>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Passage 2 — Model Answers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85800" y="1143000"/>
            <a:ext cx="10789920" cy="2708434"/>
          </a:xfrm>
          <a:prstGeom prst="rect">
            <a:avLst/>
          </a:prstGeom>
          <a:noFill/>
        </p:spPr>
        <p:txBody>
          <a:bodyPr wrap="square">
            <a:spAutoFit/>
          </a:bodyPr>
          <a:lstStyle/>
          <a:p>
            <a:pPr>
              <a:spcAft>
                <a:spcPts val="900"/>
              </a:spcAft>
              <a:defRPr sz="2000" b="0">
                <a:solidFill>
                  <a:srgbClr val="232A32"/>
                </a:solidFill>
              </a:defRPr>
            </a:pPr>
            <a:r>
              <a:rPr dirty="0"/>
              <a:t>1. Missing: what is needed, why it is needed, exactly what action is required, and the deadline.</a:t>
            </a:r>
          </a:p>
          <a:p>
            <a:pPr>
              <a:spcAft>
                <a:spcPts val="900"/>
              </a:spcAft>
              <a:defRPr sz="2000" b="0">
                <a:solidFill>
                  <a:srgbClr val="232A32"/>
                </a:solidFill>
              </a:defRPr>
            </a:pPr>
            <a:r>
              <a:rPr dirty="0"/>
              <a:t>2. Model: “Please send the revised report by 4 PM today so I can incorporate the updated figures into tomorrow’s client presentation.”</a:t>
            </a:r>
          </a:p>
          <a:p>
            <a:pPr>
              <a:spcAft>
                <a:spcPts val="900"/>
              </a:spcAft>
              <a:defRPr sz="2000" b="0">
                <a:solidFill>
                  <a:srgbClr val="232A32"/>
                </a:solidFill>
              </a:defRPr>
            </a:pPr>
            <a:r>
              <a:rPr dirty="0"/>
              <a:t>3. “Short” refers to length; “concise” refers to purposeful economy — no unnecessary words, but enough information to complete the task.</a:t>
            </a:r>
          </a:p>
          <a:p>
            <a:pPr>
              <a:spcAft>
                <a:spcPts val="900"/>
              </a:spcAft>
              <a:defRPr sz="2000" b="0">
                <a:solidFill>
                  <a:srgbClr val="232A32"/>
                </a:solidFill>
              </a:defRPr>
            </a:pPr>
            <a:r>
              <a:rPr dirty="0"/>
              <a:t>4. B is more functional because it identifies the action, object, purpose and deadline.</a:t>
            </a:r>
          </a:p>
          <a:p>
            <a:pPr>
              <a:spcAft>
                <a:spcPts val="900"/>
              </a:spcAft>
              <a:defRPr sz="2000" b="0">
                <a:solidFill>
                  <a:srgbClr val="232A32"/>
                </a:solidFill>
              </a:defRPr>
            </a:pPr>
            <a:r>
              <a:rPr lang="en-US" dirty="0"/>
              <a:t>Brevity(Briefness)</a:t>
            </a:r>
            <a:r>
              <a:rPr dirty="0"/>
              <a:t> can remove necessary information; concision removes unnecessary information.</a:t>
            </a:r>
          </a:p>
        </p:txBody>
      </p:sp>
      <p:sp>
        <p:nvSpPr>
          <p:cNvPr id="7" name="TextBox 6"/>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211" y="2286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How to Answer ANY Comprehension Question</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Rounded Rectangle 5"/>
          <p:cNvSpPr/>
          <p:nvPr/>
        </p:nvSpPr>
        <p:spPr>
          <a:xfrm>
            <a:off x="502920" y="1828800"/>
            <a:ext cx="2057400" cy="2194560"/>
          </a:xfrm>
          <a:prstGeom prst="roundRect">
            <a:avLst/>
          </a:prstGeom>
          <a:solidFill>
            <a:srgbClr val="FFFFFF"/>
          </a:solidFill>
          <a:ln w="19050">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938528"/>
            <a:ext cx="1728216" cy="320040"/>
          </a:xfrm>
          <a:prstGeom prst="rect">
            <a:avLst/>
          </a:prstGeom>
          <a:noFill/>
        </p:spPr>
        <p:txBody>
          <a:bodyPr wrap="none">
            <a:spAutoFit/>
          </a:bodyPr>
          <a:lstStyle/>
          <a:p>
            <a:pPr>
              <a:defRPr sz="1600" b="1">
                <a:solidFill>
                  <a:srgbClr val="2A5C91"/>
                </a:solidFill>
              </a:defRPr>
            </a:pPr>
            <a:r>
              <a:t>UNDERSTAND</a:t>
            </a:r>
          </a:p>
        </p:txBody>
      </p:sp>
      <p:sp>
        <p:nvSpPr>
          <p:cNvPr id="8" name="TextBox 7"/>
          <p:cNvSpPr txBox="1"/>
          <p:nvPr/>
        </p:nvSpPr>
        <p:spPr>
          <a:xfrm>
            <a:off x="667512" y="2331720"/>
            <a:ext cx="1728216" cy="1572767"/>
          </a:xfrm>
          <a:prstGeom prst="rect">
            <a:avLst/>
          </a:prstGeom>
          <a:noFill/>
        </p:spPr>
        <p:txBody>
          <a:bodyPr wrap="square">
            <a:spAutoFit/>
          </a:bodyPr>
          <a:lstStyle/>
          <a:p>
            <a:pPr>
              <a:defRPr sz="1400">
                <a:solidFill>
                  <a:srgbClr val="232A32"/>
                </a:solidFill>
              </a:defRPr>
            </a:pPr>
            <a:r>
              <a:t>What is the question asking?</a:t>
            </a:r>
          </a:p>
        </p:txBody>
      </p:sp>
      <p:sp>
        <p:nvSpPr>
          <p:cNvPr id="9" name="Rounded Rectangle 8"/>
          <p:cNvSpPr/>
          <p:nvPr/>
        </p:nvSpPr>
        <p:spPr>
          <a:xfrm>
            <a:off x="2834639" y="1828800"/>
            <a:ext cx="2057400" cy="2194560"/>
          </a:xfrm>
          <a:prstGeom prst="roundRect">
            <a:avLst/>
          </a:prstGeom>
          <a:solidFill>
            <a:srgbClr val="FFFFFF"/>
          </a:solidFill>
          <a:ln w="19050">
            <a:solidFill>
              <a:srgbClr val="2179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99232" y="1938528"/>
            <a:ext cx="1728216" cy="320040"/>
          </a:xfrm>
          <a:prstGeom prst="rect">
            <a:avLst/>
          </a:prstGeom>
          <a:noFill/>
        </p:spPr>
        <p:txBody>
          <a:bodyPr wrap="none">
            <a:spAutoFit/>
          </a:bodyPr>
          <a:lstStyle/>
          <a:p>
            <a:pPr>
              <a:defRPr sz="1600" b="1">
                <a:solidFill>
                  <a:srgbClr val="217978"/>
                </a:solidFill>
              </a:defRPr>
            </a:pPr>
            <a:r>
              <a:t>LOCATE</a:t>
            </a:r>
          </a:p>
        </p:txBody>
      </p:sp>
      <p:sp>
        <p:nvSpPr>
          <p:cNvPr id="11" name="TextBox 10"/>
          <p:cNvSpPr txBox="1"/>
          <p:nvPr/>
        </p:nvSpPr>
        <p:spPr>
          <a:xfrm>
            <a:off x="2999232" y="2331720"/>
            <a:ext cx="1728216" cy="1572767"/>
          </a:xfrm>
          <a:prstGeom prst="rect">
            <a:avLst/>
          </a:prstGeom>
          <a:noFill/>
        </p:spPr>
        <p:txBody>
          <a:bodyPr wrap="square">
            <a:spAutoFit/>
          </a:bodyPr>
          <a:lstStyle/>
          <a:p>
            <a:pPr>
              <a:defRPr sz="1400">
                <a:solidFill>
                  <a:srgbClr val="232A32"/>
                </a:solidFill>
              </a:defRPr>
            </a:pPr>
            <a:r>
              <a:t>Where is the evidence?</a:t>
            </a:r>
          </a:p>
        </p:txBody>
      </p:sp>
      <p:sp>
        <p:nvSpPr>
          <p:cNvPr id="12" name="Rounded Rectangle 11"/>
          <p:cNvSpPr/>
          <p:nvPr/>
        </p:nvSpPr>
        <p:spPr>
          <a:xfrm>
            <a:off x="5166359" y="1828800"/>
            <a:ext cx="2057400" cy="2194560"/>
          </a:xfrm>
          <a:prstGeom prst="roundRect">
            <a:avLst/>
          </a:prstGeom>
          <a:solidFill>
            <a:srgbClr val="FFFFFF"/>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30951" y="1938528"/>
            <a:ext cx="1728216" cy="320040"/>
          </a:xfrm>
          <a:prstGeom prst="rect">
            <a:avLst/>
          </a:prstGeom>
          <a:noFill/>
        </p:spPr>
        <p:txBody>
          <a:bodyPr wrap="none">
            <a:spAutoFit/>
          </a:bodyPr>
          <a:lstStyle/>
          <a:p>
            <a:pPr>
              <a:defRPr sz="1600" b="1">
                <a:solidFill>
                  <a:srgbClr val="E0A337"/>
                </a:solidFill>
              </a:defRPr>
            </a:pPr>
            <a:r>
              <a:t>CONNECT</a:t>
            </a:r>
          </a:p>
        </p:txBody>
      </p:sp>
      <p:sp>
        <p:nvSpPr>
          <p:cNvPr id="14" name="TextBox 13"/>
          <p:cNvSpPr txBox="1"/>
          <p:nvPr/>
        </p:nvSpPr>
        <p:spPr>
          <a:xfrm>
            <a:off x="5330951" y="2331720"/>
            <a:ext cx="1728216" cy="1572767"/>
          </a:xfrm>
          <a:prstGeom prst="rect">
            <a:avLst/>
          </a:prstGeom>
          <a:noFill/>
        </p:spPr>
        <p:txBody>
          <a:bodyPr wrap="square">
            <a:spAutoFit/>
          </a:bodyPr>
          <a:lstStyle/>
          <a:p>
            <a:pPr>
              <a:defRPr sz="1400">
                <a:solidFill>
                  <a:srgbClr val="232A32"/>
                </a:solidFill>
              </a:defRPr>
            </a:pPr>
            <a:r>
              <a:t>How does the evidence answer the question?</a:t>
            </a:r>
          </a:p>
        </p:txBody>
      </p:sp>
      <p:sp>
        <p:nvSpPr>
          <p:cNvPr id="15" name="Rounded Rectangle 14"/>
          <p:cNvSpPr/>
          <p:nvPr/>
        </p:nvSpPr>
        <p:spPr>
          <a:xfrm>
            <a:off x="7498079" y="1828800"/>
            <a:ext cx="2057400" cy="2194560"/>
          </a:xfrm>
          <a:prstGeom prst="roundRect">
            <a:avLst/>
          </a:prstGeom>
          <a:solidFill>
            <a:srgbClr val="FFFFFF"/>
          </a:solidFill>
          <a:ln w="19050">
            <a:solidFill>
              <a:srgbClr val="2F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62671" y="1938528"/>
            <a:ext cx="1728216" cy="320040"/>
          </a:xfrm>
          <a:prstGeom prst="rect">
            <a:avLst/>
          </a:prstGeom>
          <a:noFill/>
        </p:spPr>
        <p:txBody>
          <a:bodyPr wrap="none">
            <a:spAutoFit/>
          </a:bodyPr>
          <a:lstStyle/>
          <a:p>
            <a:pPr>
              <a:defRPr sz="1600" b="1">
                <a:solidFill>
                  <a:srgbClr val="2F7D52"/>
                </a:solidFill>
              </a:defRPr>
            </a:pPr>
            <a:r>
              <a:t>ELIMINATE</a:t>
            </a:r>
          </a:p>
        </p:txBody>
      </p:sp>
      <p:sp>
        <p:nvSpPr>
          <p:cNvPr id="17" name="TextBox 16"/>
          <p:cNvSpPr txBox="1"/>
          <p:nvPr/>
        </p:nvSpPr>
        <p:spPr>
          <a:xfrm>
            <a:off x="7662671" y="2331720"/>
            <a:ext cx="1728216" cy="1572767"/>
          </a:xfrm>
          <a:prstGeom prst="rect">
            <a:avLst/>
          </a:prstGeom>
          <a:noFill/>
        </p:spPr>
        <p:txBody>
          <a:bodyPr wrap="square">
            <a:spAutoFit/>
          </a:bodyPr>
          <a:lstStyle/>
          <a:p>
            <a:pPr>
              <a:defRPr sz="1400">
                <a:solidFill>
                  <a:srgbClr val="232A32"/>
                </a:solidFill>
              </a:defRPr>
            </a:pPr>
            <a:r>
              <a:t>Which options are unsupported or distorted?</a:t>
            </a:r>
          </a:p>
        </p:txBody>
      </p:sp>
      <p:sp>
        <p:nvSpPr>
          <p:cNvPr id="18" name="Rounded Rectangle 17"/>
          <p:cNvSpPr/>
          <p:nvPr/>
        </p:nvSpPr>
        <p:spPr>
          <a:xfrm>
            <a:off x="9829800" y="1828800"/>
            <a:ext cx="2057400" cy="2194560"/>
          </a:xfrm>
          <a:prstGeom prst="roundRect">
            <a:avLst/>
          </a:prstGeom>
          <a:solidFill>
            <a:srgbClr val="FFFFFF"/>
          </a:solidFill>
          <a:ln w="19050">
            <a:solidFill>
              <a:srgbClr val="B1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994392" y="1938528"/>
            <a:ext cx="1728216" cy="320040"/>
          </a:xfrm>
          <a:prstGeom prst="rect">
            <a:avLst/>
          </a:prstGeom>
          <a:noFill/>
        </p:spPr>
        <p:txBody>
          <a:bodyPr wrap="none">
            <a:spAutoFit/>
          </a:bodyPr>
          <a:lstStyle/>
          <a:p>
            <a:pPr>
              <a:defRPr sz="1600" b="1">
                <a:solidFill>
                  <a:srgbClr val="B13737"/>
                </a:solidFill>
              </a:defRPr>
            </a:pPr>
            <a:r>
              <a:t>JUSTIFY</a:t>
            </a:r>
          </a:p>
        </p:txBody>
      </p:sp>
      <p:sp>
        <p:nvSpPr>
          <p:cNvPr id="20" name="TextBox 19"/>
          <p:cNvSpPr txBox="1"/>
          <p:nvPr/>
        </p:nvSpPr>
        <p:spPr>
          <a:xfrm>
            <a:off x="9994392" y="2331720"/>
            <a:ext cx="1728216" cy="1572767"/>
          </a:xfrm>
          <a:prstGeom prst="rect">
            <a:avLst/>
          </a:prstGeom>
          <a:noFill/>
        </p:spPr>
        <p:txBody>
          <a:bodyPr wrap="square">
            <a:spAutoFit/>
          </a:bodyPr>
          <a:lstStyle/>
          <a:p>
            <a:pPr>
              <a:defRPr sz="1400">
                <a:solidFill>
                  <a:srgbClr val="232A32"/>
                </a:solidFill>
              </a:defRPr>
            </a:pPr>
            <a:r>
              <a:t>Can I point to a phrase / idea in the text?</a:t>
            </a:r>
          </a:p>
        </p:txBody>
      </p:sp>
      <p:sp>
        <p:nvSpPr>
          <p:cNvPr id="24" name="TextBox 23"/>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143000"/>
            <a:ext cx="10515600" cy="1188720"/>
          </a:xfrm>
          <a:prstGeom prst="rect">
            <a:avLst/>
          </a:prstGeom>
          <a:noFill/>
        </p:spPr>
        <p:txBody>
          <a:bodyPr wrap="none">
            <a:spAutoFit/>
          </a:bodyPr>
          <a:lstStyle/>
          <a:p>
            <a:pPr>
              <a:defRPr sz="3400" b="1">
                <a:solidFill>
                  <a:srgbClr val="FFFFFF"/>
                </a:solidFill>
              </a:defRPr>
            </a:pPr>
            <a:r>
              <a:t>PART II — REMEDIAL ENGLISH</a:t>
            </a:r>
          </a:p>
        </p:txBody>
      </p:sp>
      <p:sp>
        <p:nvSpPr>
          <p:cNvPr id="4" name="TextBox 3"/>
          <p:cNvSpPr txBox="1"/>
          <p:nvPr/>
        </p:nvSpPr>
        <p:spPr>
          <a:xfrm>
            <a:off x="749808" y="2560320"/>
            <a:ext cx="9875520" cy="1097280"/>
          </a:xfrm>
          <a:prstGeom prst="rect">
            <a:avLst/>
          </a:prstGeom>
          <a:noFill/>
        </p:spPr>
        <p:txBody>
          <a:bodyPr wrap="none">
            <a:spAutoFit/>
          </a:bodyPr>
          <a:lstStyle/>
          <a:p>
            <a:pPr>
              <a:defRPr sz="2400">
                <a:solidFill>
                  <a:srgbClr val="DCE6F0"/>
                </a:solidFill>
              </a:defRPr>
            </a:pPr>
            <a:r>
              <a:t>Not “learn grammar again.”</a:t>
            </a:r>
            <a:br/>
            <a:r>
              <a:t>Learn to diagnose why a sentence fails in professional communication.</a:t>
            </a:r>
          </a:p>
        </p:txBody>
      </p:sp>
      <p:sp>
        <p:nvSpPr>
          <p:cNvPr id="5" name="TextBox 4"/>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Remedial English: The Editing Mindset</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731520" y="1234440"/>
            <a:ext cx="10607040" cy="3931920"/>
          </a:xfrm>
          <a:prstGeom prst="rect">
            <a:avLst/>
          </a:prstGeom>
          <a:noFill/>
        </p:spPr>
        <p:txBody>
          <a:bodyPr wrap="square">
            <a:spAutoFit/>
          </a:bodyPr>
          <a:lstStyle/>
          <a:p>
            <a:pPr>
              <a:spcAft>
                <a:spcPts val="900"/>
              </a:spcAft>
              <a:defRPr sz="2200" b="0">
                <a:solidFill>
                  <a:srgbClr val="232A32"/>
                </a:solidFill>
              </a:defRPr>
            </a:pPr>
            <a:r>
              <a:t>Do not correct by intuition alone. Identify the grammatical relationship first.</a:t>
            </a:r>
          </a:p>
          <a:p>
            <a:pPr>
              <a:spcAft>
                <a:spcPts val="900"/>
              </a:spcAft>
              <a:defRPr sz="2200" b="0">
                <a:solidFill>
                  <a:srgbClr val="232A32"/>
                </a:solidFill>
              </a:defRPr>
            </a:pPr>
            <a:r>
              <a:t>Ask: What is the subject? What is the verb? What is the time? What modifies what?</a:t>
            </a:r>
          </a:p>
          <a:p>
            <a:pPr>
              <a:spcAft>
                <a:spcPts val="900"/>
              </a:spcAft>
              <a:defRPr sz="2200" b="0">
                <a:solidFill>
                  <a:srgbClr val="232A32"/>
                </a:solidFill>
              </a:defRPr>
            </a:pPr>
            <a:r>
              <a:t>Check one error category at a time.</a:t>
            </a:r>
          </a:p>
          <a:p>
            <a:pPr>
              <a:spcAft>
                <a:spcPts val="900"/>
              </a:spcAft>
              <a:defRPr sz="2200" b="0">
                <a:solidFill>
                  <a:srgbClr val="232A32"/>
                </a:solidFill>
              </a:defRPr>
            </a:pPr>
            <a:r>
              <a:t>Then read the sentence again for meaning and professionalism.</a:t>
            </a:r>
          </a:p>
          <a:p>
            <a:pPr>
              <a:spcAft>
                <a:spcPts val="900"/>
              </a:spcAft>
              <a:defRPr sz="2200" b="0">
                <a:solidFill>
                  <a:srgbClr val="232A32"/>
                </a:solidFill>
              </a:defRPr>
            </a:pPr>
            <a:r>
              <a:t>Professional English = grammatical accuracy + clarity + appropriate tone + economy.</a:t>
            </a:r>
          </a:p>
        </p:txBody>
      </p:sp>
      <p:sp>
        <p:nvSpPr>
          <p:cNvPr id="7" name="Rounded Rectangle 6"/>
          <p:cNvSpPr/>
          <p:nvPr/>
        </p:nvSpPr>
        <p:spPr>
          <a:xfrm>
            <a:off x="822960" y="5257800"/>
            <a:ext cx="10424160" cy="731520"/>
          </a:xfrm>
          <a:prstGeom prst="roundRect">
            <a:avLst/>
          </a:prstGeom>
          <a:solidFill>
            <a:srgbClr val="F4F7FA"/>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5367528"/>
            <a:ext cx="10094976" cy="320040"/>
          </a:xfrm>
          <a:prstGeom prst="rect">
            <a:avLst/>
          </a:prstGeom>
          <a:noFill/>
        </p:spPr>
        <p:txBody>
          <a:bodyPr wrap="none">
            <a:spAutoFit/>
          </a:bodyPr>
          <a:lstStyle/>
          <a:p>
            <a:pPr>
              <a:defRPr sz="1600" b="1">
                <a:solidFill>
                  <a:srgbClr val="E0A337"/>
                </a:solidFill>
              </a:defRPr>
            </a:pPr>
            <a:r>
              <a:t>4-step correction routine</a:t>
            </a:r>
          </a:p>
        </p:txBody>
      </p:sp>
      <p:sp>
        <p:nvSpPr>
          <p:cNvPr id="9" name="TextBox 8"/>
          <p:cNvSpPr txBox="1"/>
          <p:nvPr/>
        </p:nvSpPr>
        <p:spPr>
          <a:xfrm>
            <a:off x="987552" y="5760720"/>
            <a:ext cx="10094976" cy="109728"/>
          </a:xfrm>
          <a:prstGeom prst="rect">
            <a:avLst/>
          </a:prstGeom>
          <a:noFill/>
        </p:spPr>
        <p:txBody>
          <a:bodyPr wrap="square">
            <a:spAutoFit/>
          </a:bodyPr>
          <a:lstStyle/>
          <a:p>
            <a:pPr>
              <a:defRPr sz="1400">
                <a:solidFill>
                  <a:srgbClr val="232A32"/>
                </a:solidFill>
              </a:defRPr>
            </a:pPr>
            <a:r>
              <a:t>IDENTIFY → DIAGNOSE → CORRECT → EXPLAIN</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High-Frequency Error Categories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594360" y="1005840"/>
            <a:ext cx="10972800" cy="5303520"/>
          </a:xfrm>
          <a:prstGeom prst="rect">
            <a:avLst/>
          </a:prstGeom>
          <a:noFill/>
        </p:spPr>
        <p:txBody>
          <a:bodyPr wrap="square">
            <a:spAutoFit/>
          </a:bodyPr>
          <a:lstStyle/>
          <a:p>
            <a:pPr>
              <a:spcAft>
                <a:spcPts val="900"/>
              </a:spcAft>
              <a:defRPr sz="1800" b="0">
                <a:solidFill>
                  <a:srgbClr val="232A32"/>
                </a:solidFill>
              </a:defRPr>
            </a:pPr>
            <a:r>
              <a:rPr dirty="0"/>
              <a:t>1. Subject–verb agreement — The list of items is / are attached.</a:t>
            </a:r>
          </a:p>
          <a:p>
            <a:pPr>
              <a:spcAft>
                <a:spcPts val="900"/>
              </a:spcAft>
              <a:defRPr sz="1800" b="0">
                <a:solidFill>
                  <a:srgbClr val="232A32"/>
                </a:solidFill>
              </a:defRPr>
            </a:pPr>
            <a:r>
              <a:rPr dirty="0"/>
              <a:t>2. Tense &amp; time — We discussed it yesterday / We have discussed it.</a:t>
            </a:r>
          </a:p>
          <a:p>
            <a:pPr>
              <a:spcAft>
                <a:spcPts val="900"/>
              </a:spcAft>
              <a:defRPr sz="1800" b="0">
                <a:solidFill>
                  <a:srgbClr val="232A32"/>
                </a:solidFill>
              </a:defRPr>
            </a:pPr>
            <a:r>
              <a:rPr dirty="0"/>
              <a:t>3. Articles — a / an / the / zero article.</a:t>
            </a:r>
          </a:p>
          <a:p>
            <a:pPr>
              <a:spcAft>
                <a:spcPts val="900"/>
              </a:spcAft>
              <a:defRPr sz="1800" b="0">
                <a:solidFill>
                  <a:srgbClr val="232A32"/>
                </a:solidFill>
              </a:defRPr>
            </a:pPr>
            <a:r>
              <a:rPr dirty="0"/>
              <a:t>4. Prepositions — responsible for, interested in, depend on.</a:t>
            </a:r>
          </a:p>
          <a:p>
            <a:pPr>
              <a:spcAft>
                <a:spcPts val="900"/>
              </a:spcAft>
              <a:defRPr sz="1800" b="0">
                <a:solidFill>
                  <a:srgbClr val="232A32"/>
                </a:solidFill>
              </a:defRPr>
            </a:pPr>
            <a:r>
              <a:rPr dirty="0"/>
              <a:t>5. Pronouns — agreement and clear reference.</a:t>
            </a:r>
          </a:p>
          <a:p>
            <a:pPr>
              <a:spcAft>
                <a:spcPts val="900"/>
              </a:spcAft>
              <a:defRPr sz="1800" b="0">
                <a:solidFill>
                  <a:srgbClr val="232A32"/>
                </a:solidFill>
              </a:defRPr>
            </a:pPr>
            <a:r>
              <a:rPr dirty="0"/>
              <a:t>6. Modifiers — place descriptive words next to what they describe.</a:t>
            </a:r>
          </a:p>
          <a:p>
            <a:pPr>
              <a:spcAft>
                <a:spcPts val="900"/>
              </a:spcAft>
              <a:defRPr sz="1800" b="0">
                <a:solidFill>
                  <a:srgbClr val="232A32"/>
                </a:solidFill>
              </a:defRPr>
            </a:pPr>
            <a:r>
              <a:rPr dirty="0"/>
              <a:t>7. Parallelism — to plan, to design and to implement.</a:t>
            </a:r>
          </a:p>
          <a:p>
            <a:pPr>
              <a:spcAft>
                <a:spcPts val="900"/>
              </a:spcAft>
              <a:defRPr sz="1800" b="0">
                <a:solidFill>
                  <a:srgbClr val="232A32"/>
                </a:solidFill>
              </a:defRPr>
            </a:pPr>
            <a:r>
              <a:rPr dirty="0"/>
              <a:t>8. Word choice / collocation — discuss the issue, not discuss about the issue.</a:t>
            </a:r>
          </a:p>
          <a:p>
            <a:pPr>
              <a:spcAft>
                <a:spcPts val="900"/>
              </a:spcAft>
              <a:defRPr sz="1800" b="0">
                <a:solidFill>
                  <a:srgbClr val="232A32"/>
                </a:solidFill>
              </a:defRPr>
            </a:pPr>
            <a:r>
              <a:rPr dirty="0"/>
              <a:t>9. Redundancy — return back, repeat again, future plans.</a:t>
            </a:r>
          </a:p>
          <a:p>
            <a:pPr>
              <a:spcAft>
                <a:spcPts val="900"/>
              </a:spcAft>
              <a:defRPr sz="1800" b="0">
                <a:solidFill>
                  <a:srgbClr val="232A32"/>
                </a:solidFill>
              </a:defRPr>
            </a:pPr>
            <a:r>
              <a:rPr dirty="0"/>
              <a:t>10. Sentence structure — fragments, run-ons, awkward coordination.</a:t>
            </a:r>
          </a:p>
        </p:txBody>
      </p:sp>
      <p:sp>
        <p:nvSpPr>
          <p:cNvPr id="7" name="TextBox 6"/>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Error Analysis 1 — Subject–Verb Agreement</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Rounded Rectangle 5"/>
          <p:cNvSpPr/>
          <p:nvPr/>
        </p:nvSpPr>
        <p:spPr>
          <a:xfrm>
            <a:off x="548640" y="1097280"/>
            <a:ext cx="5440680" cy="4892040"/>
          </a:xfrm>
          <a:prstGeom prst="roundRect">
            <a:avLst/>
          </a:prstGeom>
          <a:solidFill>
            <a:srgbClr val="FFFFFF"/>
          </a:solidFill>
          <a:ln w="19050">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207007"/>
            <a:ext cx="5111496" cy="320040"/>
          </a:xfrm>
          <a:prstGeom prst="rect">
            <a:avLst/>
          </a:prstGeom>
          <a:noFill/>
        </p:spPr>
        <p:txBody>
          <a:bodyPr wrap="none">
            <a:spAutoFit/>
          </a:bodyPr>
          <a:lstStyle/>
          <a:p>
            <a:pPr>
              <a:defRPr sz="1600" b="1">
                <a:solidFill>
                  <a:srgbClr val="2A5C91"/>
                </a:solidFill>
              </a:defRPr>
            </a:pPr>
            <a:r>
              <a:t>Find the error</a:t>
            </a:r>
          </a:p>
        </p:txBody>
      </p:sp>
      <p:sp>
        <p:nvSpPr>
          <p:cNvPr id="8" name="TextBox 7"/>
          <p:cNvSpPr txBox="1"/>
          <p:nvPr/>
        </p:nvSpPr>
        <p:spPr>
          <a:xfrm>
            <a:off x="713232" y="1600200"/>
            <a:ext cx="5111496" cy="4270248"/>
          </a:xfrm>
          <a:prstGeom prst="rect">
            <a:avLst/>
          </a:prstGeom>
          <a:noFill/>
        </p:spPr>
        <p:txBody>
          <a:bodyPr wrap="square">
            <a:spAutoFit/>
          </a:bodyPr>
          <a:lstStyle/>
          <a:p>
            <a:pPr>
              <a:defRPr sz="1400">
                <a:solidFill>
                  <a:srgbClr val="232A32"/>
                </a:solidFill>
              </a:defRPr>
            </a:pPr>
            <a:r>
              <a:t>• The list of candidates are attached.</a:t>
            </a:r>
            <a:br/>
            <a:r>
              <a:t>• Each of the students have submitted the form.</a:t>
            </a:r>
            <a:br/>
            <a:r>
              <a:t>• The quality of these reports vary.</a:t>
            </a:r>
            <a:br/>
            <a:r>
              <a:t>• Neither the manager nor the employees was available.</a:t>
            </a:r>
          </a:p>
        </p:txBody>
      </p:sp>
      <p:sp>
        <p:nvSpPr>
          <p:cNvPr id="9" name="Rounded Rectangle 8"/>
          <p:cNvSpPr/>
          <p:nvPr/>
        </p:nvSpPr>
        <p:spPr>
          <a:xfrm>
            <a:off x="6217920" y="1097280"/>
            <a:ext cx="5440680" cy="4892040"/>
          </a:xfrm>
          <a:prstGeom prst="roundRect">
            <a:avLst/>
          </a:prstGeom>
          <a:solidFill>
            <a:srgbClr val="FFFFFF"/>
          </a:solidFill>
          <a:ln w="19050">
            <a:solidFill>
              <a:srgbClr val="2179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1207007"/>
            <a:ext cx="5111496" cy="320040"/>
          </a:xfrm>
          <a:prstGeom prst="rect">
            <a:avLst/>
          </a:prstGeom>
          <a:noFill/>
        </p:spPr>
        <p:txBody>
          <a:bodyPr wrap="none">
            <a:spAutoFit/>
          </a:bodyPr>
          <a:lstStyle/>
          <a:p>
            <a:pPr>
              <a:defRPr sz="1600" b="1">
                <a:solidFill>
                  <a:srgbClr val="217978"/>
                </a:solidFill>
              </a:defRPr>
            </a:pPr>
            <a:r>
              <a:t>Diagnostic rule</a:t>
            </a:r>
          </a:p>
        </p:txBody>
      </p:sp>
      <p:sp>
        <p:nvSpPr>
          <p:cNvPr id="11" name="TextBox 10"/>
          <p:cNvSpPr txBox="1"/>
          <p:nvPr/>
        </p:nvSpPr>
        <p:spPr>
          <a:xfrm>
            <a:off x="6382512" y="1600200"/>
            <a:ext cx="5111496" cy="4270248"/>
          </a:xfrm>
          <a:prstGeom prst="rect">
            <a:avLst/>
          </a:prstGeom>
          <a:noFill/>
        </p:spPr>
        <p:txBody>
          <a:bodyPr wrap="square">
            <a:spAutoFit/>
          </a:bodyPr>
          <a:lstStyle/>
          <a:p>
            <a:pPr>
              <a:defRPr sz="1400">
                <a:solidFill>
                  <a:srgbClr val="232A32"/>
                </a:solidFill>
              </a:defRPr>
            </a:pPr>
            <a:r>
              <a:t>• Find the TRUE subject before choosing the verb.</a:t>
            </a:r>
            <a:br/>
            <a:r>
              <a:t>• Ignore intervening phrases: “of candidates”, “of students”, etc.</a:t>
            </a:r>
            <a:br/>
            <a:r>
              <a:t>• With neither/nor, the verb usually agrees with the nearer subject in formal usage.</a:t>
            </a:r>
            <a:br/>
            <a:r>
              <a:t>• Ask: Who / what is doing the action?</a:t>
            </a:r>
          </a:p>
        </p:txBody>
      </p:sp>
      <p:sp>
        <p:nvSpPr>
          <p:cNvPr id="12" name="TextBox 11"/>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Error Analysis 1 — Corrections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85800" y="1097280"/>
            <a:ext cx="10789920" cy="5029200"/>
          </a:xfrm>
          <a:prstGeom prst="rect">
            <a:avLst/>
          </a:prstGeom>
          <a:noFill/>
        </p:spPr>
        <p:txBody>
          <a:bodyPr wrap="square">
            <a:spAutoFit/>
          </a:bodyPr>
          <a:lstStyle/>
          <a:p>
            <a:pPr>
              <a:spcAft>
                <a:spcPts val="900"/>
              </a:spcAft>
              <a:defRPr sz="2000" b="0">
                <a:solidFill>
                  <a:srgbClr val="232A32"/>
                </a:solidFill>
              </a:defRPr>
            </a:pPr>
            <a:r>
              <a:t>❌ The list of candidates are attached. → ✅ The list of candidates is attached.</a:t>
            </a:r>
          </a:p>
          <a:p>
            <a:pPr>
              <a:spcAft>
                <a:spcPts val="900"/>
              </a:spcAft>
              <a:defRPr sz="2000" b="0">
                <a:solidFill>
                  <a:srgbClr val="232A32"/>
                </a:solidFill>
              </a:defRPr>
            </a:pPr>
            <a:r>
              <a:t>❌ Each of the students have submitted the form. → ✅ Each of the students has submitted the form.</a:t>
            </a:r>
          </a:p>
          <a:p>
            <a:pPr>
              <a:spcAft>
                <a:spcPts val="900"/>
              </a:spcAft>
              <a:defRPr sz="2000" b="0">
                <a:solidFill>
                  <a:srgbClr val="232A32"/>
                </a:solidFill>
              </a:defRPr>
            </a:pPr>
            <a:r>
              <a:t>❌ The quality of these reports vary. → ✅ The quality of these reports varies.</a:t>
            </a:r>
          </a:p>
          <a:p>
            <a:pPr>
              <a:spcAft>
                <a:spcPts val="900"/>
              </a:spcAft>
              <a:defRPr sz="2000" b="0">
                <a:solidFill>
                  <a:srgbClr val="232A32"/>
                </a:solidFill>
              </a:defRPr>
            </a:pPr>
            <a:r>
              <a:t>❌ Neither the manager nor the employees was available. → ✅ Neither the manager nor the employees were available.</a:t>
            </a:r>
          </a:p>
          <a:p>
            <a:pPr>
              <a:spcAft>
                <a:spcPts val="900"/>
              </a:spcAft>
              <a:defRPr sz="2000" b="0">
                <a:solidFill>
                  <a:srgbClr val="232A32"/>
                </a:solidFill>
              </a:defRPr>
            </a:pPr>
            <a:r>
              <a:t>Why? In the first three, the head subject is list / each / quality — all singular.</a:t>
            </a:r>
          </a:p>
        </p:txBody>
      </p:sp>
      <p:sp>
        <p:nvSpPr>
          <p:cNvPr id="7" name="TextBox 6"/>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Error Analysis 2 — Tense &amp; Time</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85800" y="1097280"/>
            <a:ext cx="10789920" cy="3474720"/>
          </a:xfrm>
          <a:prstGeom prst="rect">
            <a:avLst/>
          </a:prstGeom>
          <a:noFill/>
        </p:spPr>
        <p:txBody>
          <a:bodyPr wrap="square">
            <a:spAutoFit/>
          </a:bodyPr>
          <a:lstStyle/>
          <a:p>
            <a:pPr>
              <a:spcAft>
                <a:spcPts val="900"/>
              </a:spcAft>
              <a:defRPr sz="2100" b="0">
                <a:solidFill>
                  <a:srgbClr val="232A32"/>
                </a:solidFill>
              </a:defRPr>
            </a:pPr>
            <a:r>
              <a:t>Past simple → completed action at a finished time: “We submitted the report yesterday.”</a:t>
            </a:r>
          </a:p>
          <a:p>
            <a:pPr>
              <a:spcAft>
                <a:spcPts val="900"/>
              </a:spcAft>
              <a:defRPr sz="2100" b="0">
                <a:solidFill>
                  <a:srgbClr val="232A32"/>
                </a:solidFill>
              </a:defRPr>
            </a:pPr>
            <a:r>
              <a:t>Present perfect → past action connected to the present, usually without a finished past-time marker: “We have submitted the report.”</a:t>
            </a:r>
          </a:p>
          <a:p>
            <a:pPr>
              <a:spcAft>
                <a:spcPts val="900"/>
              </a:spcAft>
              <a:defRPr sz="2100" b="0">
                <a:solidFill>
                  <a:srgbClr val="232A32"/>
                </a:solidFill>
              </a:defRPr>
            </a:pPr>
            <a:r>
              <a:t>Past perfect → an earlier past action before another past action: “We had submitted the report before the meeting began.”</a:t>
            </a:r>
          </a:p>
          <a:p>
            <a:pPr>
              <a:spcAft>
                <a:spcPts val="900"/>
              </a:spcAft>
              <a:defRPr sz="2100" b="0">
                <a:solidFill>
                  <a:srgbClr val="232A32"/>
                </a:solidFill>
              </a:defRPr>
            </a:pPr>
            <a:r>
              <a:t>Future forms → distinguish plan, arrangement, prediction and scheduled event according to context.</a:t>
            </a:r>
          </a:p>
        </p:txBody>
      </p:sp>
      <p:sp>
        <p:nvSpPr>
          <p:cNvPr id="7" name="Rounded Rectangle 6"/>
          <p:cNvSpPr/>
          <p:nvPr/>
        </p:nvSpPr>
        <p:spPr>
          <a:xfrm>
            <a:off x="731520" y="4754880"/>
            <a:ext cx="10698480" cy="1097280"/>
          </a:xfrm>
          <a:prstGeom prst="roundRect">
            <a:avLst/>
          </a:prstGeom>
          <a:solidFill>
            <a:srgbClr val="F4F7FA"/>
          </a:solidFill>
          <a:ln w="19050">
            <a:solidFill>
              <a:srgbClr val="2179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4864608"/>
            <a:ext cx="10369296" cy="320040"/>
          </a:xfrm>
          <a:prstGeom prst="rect">
            <a:avLst/>
          </a:prstGeom>
          <a:noFill/>
        </p:spPr>
        <p:txBody>
          <a:bodyPr wrap="none">
            <a:spAutoFit/>
          </a:bodyPr>
          <a:lstStyle/>
          <a:p>
            <a:pPr>
              <a:defRPr sz="1600" b="1">
                <a:solidFill>
                  <a:srgbClr val="217978"/>
                </a:solidFill>
              </a:defRPr>
            </a:pPr>
            <a:r>
              <a:t>Quick test</a:t>
            </a:r>
          </a:p>
        </p:txBody>
      </p:sp>
      <p:sp>
        <p:nvSpPr>
          <p:cNvPr id="9" name="TextBox 8"/>
          <p:cNvSpPr txBox="1"/>
          <p:nvPr/>
        </p:nvSpPr>
        <p:spPr>
          <a:xfrm>
            <a:off x="896112" y="5257800"/>
            <a:ext cx="10369296" cy="475487"/>
          </a:xfrm>
          <a:prstGeom prst="rect">
            <a:avLst/>
          </a:prstGeom>
          <a:noFill/>
        </p:spPr>
        <p:txBody>
          <a:bodyPr wrap="square">
            <a:spAutoFit/>
          </a:bodyPr>
          <a:lstStyle/>
          <a:p>
            <a:pPr>
              <a:defRPr sz="1400">
                <a:solidFill>
                  <a:srgbClr val="232A32"/>
                </a:solidFill>
              </a:defRPr>
            </a:pPr>
            <a:r>
              <a:t>Look for time markers: yesterday, last week, already, yet, since, for, before, by the time. Then ask: Is the action finished, continuing, or connected to now?</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Tense Practice — Choose &amp; Explain</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822960" y="1234440"/>
            <a:ext cx="10515600" cy="4023360"/>
          </a:xfrm>
          <a:prstGeom prst="rect">
            <a:avLst/>
          </a:prstGeom>
          <a:noFill/>
        </p:spPr>
        <p:txBody>
          <a:bodyPr wrap="square">
            <a:spAutoFit/>
          </a:bodyPr>
          <a:lstStyle/>
          <a:p>
            <a:pPr>
              <a:spcAft>
                <a:spcPts val="900"/>
              </a:spcAft>
              <a:defRPr sz="2300" b="0">
                <a:solidFill>
                  <a:srgbClr val="232A32"/>
                </a:solidFill>
              </a:defRPr>
            </a:pPr>
            <a:r>
              <a:t>1. We ______ the client yesterday. (contacted / have contacted)</a:t>
            </a:r>
          </a:p>
          <a:p>
            <a:pPr>
              <a:spcAft>
                <a:spcPts val="900"/>
              </a:spcAft>
              <a:defRPr sz="2300" b="0">
                <a:solidFill>
                  <a:srgbClr val="232A32"/>
                </a:solidFill>
              </a:defRPr>
            </a:pPr>
            <a:r>
              <a:t>2. She ______ at JIIT since 2024. (worked / has worked)</a:t>
            </a:r>
          </a:p>
          <a:p>
            <a:pPr>
              <a:spcAft>
                <a:spcPts val="900"/>
              </a:spcAft>
              <a:defRPr sz="2300" b="0">
                <a:solidFill>
                  <a:srgbClr val="232A32"/>
                </a:solidFill>
              </a:defRPr>
            </a:pPr>
            <a:r>
              <a:t>3. By the time the meeting started, the team ______ the slides. (prepared / had prepared)</a:t>
            </a:r>
          </a:p>
          <a:p>
            <a:pPr>
              <a:spcAft>
                <a:spcPts val="900"/>
              </a:spcAft>
              <a:defRPr sz="2300" b="0">
                <a:solidFill>
                  <a:srgbClr val="232A32"/>
                </a:solidFill>
              </a:defRPr>
            </a:pPr>
            <a:r>
              <a:t>4. I ______ the email already. (sent / have sent)</a:t>
            </a:r>
          </a:p>
          <a:p>
            <a:pPr>
              <a:spcAft>
                <a:spcPts val="900"/>
              </a:spcAft>
              <a:defRPr sz="2300" b="0">
                <a:solidFill>
                  <a:srgbClr val="232A32"/>
                </a:solidFill>
              </a:defRPr>
            </a:pPr>
            <a:r>
              <a:t>5. They ______ the prototype last Friday. (tested / have tested)</a:t>
            </a:r>
          </a:p>
        </p:txBody>
      </p:sp>
      <p:sp>
        <p:nvSpPr>
          <p:cNvPr id="7" name="Rounded Rectangle 6"/>
          <p:cNvSpPr/>
          <p:nvPr/>
        </p:nvSpPr>
        <p:spPr>
          <a:xfrm>
            <a:off x="822960" y="5349240"/>
            <a:ext cx="10424160" cy="685800"/>
          </a:xfrm>
          <a:prstGeom prst="roundRect">
            <a:avLst/>
          </a:prstGeom>
          <a:solidFill>
            <a:srgbClr val="F4F7FA"/>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5458968"/>
            <a:ext cx="10094976" cy="320040"/>
          </a:xfrm>
          <a:prstGeom prst="rect">
            <a:avLst/>
          </a:prstGeom>
          <a:noFill/>
        </p:spPr>
        <p:txBody>
          <a:bodyPr wrap="none">
            <a:spAutoFit/>
          </a:bodyPr>
          <a:lstStyle/>
          <a:p>
            <a:pPr>
              <a:defRPr sz="1600" b="1">
                <a:solidFill>
                  <a:srgbClr val="E0A337"/>
                </a:solidFill>
              </a:defRPr>
            </a:pPr>
            <a:r>
              <a:t>Rule: no guessing</a:t>
            </a:r>
          </a:p>
        </p:txBody>
      </p:sp>
      <p:sp>
        <p:nvSpPr>
          <p:cNvPr id="9" name="TextBox 8"/>
          <p:cNvSpPr txBox="1"/>
          <p:nvPr/>
        </p:nvSpPr>
        <p:spPr>
          <a:xfrm>
            <a:off x="987552" y="5852159"/>
            <a:ext cx="10094976" cy="64007"/>
          </a:xfrm>
          <a:prstGeom prst="rect">
            <a:avLst/>
          </a:prstGeom>
          <a:noFill/>
        </p:spPr>
        <p:txBody>
          <a:bodyPr wrap="square">
            <a:spAutoFit/>
          </a:bodyPr>
          <a:lstStyle/>
          <a:p>
            <a:pPr>
              <a:defRPr sz="1400">
                <a:solidFill>
                  <a:srgbClr val="232A32"/>
                </a:solidFill>
              </a:defRPr>
            </a:pPr>
            <a:r>
              <a:t>Choose the form AND give the reason. A correct answer without a reason is incomplete in an error-analysis exercise.</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Error Analysis 3 — Articles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Rounded Rectangle 5"/>
          <p:cNvSpPr/>
          <p:nvPr/>
        </p:nvSpPr>
        <p:spPr>
          <a:xfrm>
            <a:off x="548640" y="1097280"/>
            <a:ext cx="5440680" cy="4892040"/>
          </a:xfrm>
          <a:prstGeom prst="roundRect">
            <a:avLst/>
          </a:prstGeom>
          <a:solidFill>
            <a:srgbClr val="FFFFFF"/>
          </a:solidFill>
          <a:ln w="19050">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207007"/>
            <a:ext cx="5111496" cy="320040"/>
          </a:xfrm>
          <a:prstGeom prst="rect">
            <a:avLst/>
          </a:prstGeom>
          <a:noFill/>
        </p:spPr>
        <p:txBody>
          <a:bodyPr wrap="none">
            <a:spAutoFit/>
          </a:bodyPr>
          <a:lstStyle/>
          <a:p>
            <a:pPr>
              <a:defRPr sz="1600" b="1">
                <a:solidFill>
                  <a:srgbClr val="2A5C91"/>
                </a:solidFill>
              </a:defRPr>
            </a:pPr>
            <a:r>
              <a:t>Core idea</a:t>
            </a:r>
          </a:p>
        </p:txBody>
      </p:sp>
      <p:sp>
        <p:nvSpPr>
          <p:cNvPr id="8" name="TextBox 7"/>
          <p:cNvSpPr txBox="1"/>
          <p:nvPr/>
        </p:nvSpPr>
        <p:spPr>
          <a:xfrm>
            <a:off x="713232" y="1600200"/>
            <a:ext cx="5111496" cy="4270248"/>
          </a:xfrm>
          <a:prstGeom prst="rect">
            <a:avLst/>
          </a:prstGeom>
          <a:noFill/>
        </p:spPr>
        <p:txBody>
          <a:bodyPr wrap="square">
            <a:spAutoFit/>
          </a:bodyPr>
          <a:lstStyle/>
          <a:p>
            <a:pPr>
              <a:defRPr sz="1400">
                <a:solidFill>
                  <a:srgbClr val="232A32"/>
                </a:solidFill>
              </a:defRPr>
            </a:pPr>
            <a:r>
              <a:t>• a/an = one non-specific countable noun</a:t>
            </a:r>
            <a:br/>
            <a:r>
              <a:t>• the = specific / identifiable noun</a:t>
            </a:r>
            <a:br/>
            <a:r>
              <a:t>• zero article = plural / uncountable noun when speaking generally</a:t>
            </a:r>
            <a:br/>
            <a:r>
              <a:t>• Sound matters: an hour, a university</a:t>
            </a:r>
          </a:p>
        </p:txBody>
      </p:sp>
      <p:sp>
        <p:nvSpPr>
          <p:cNvPr id="9" name="Rounded Rectangle 8"/>
          <p:cNvSpPr/>
          <p:nvPr/>
        </p:nvSpPr>
        <p:spPr>
          <a:xfrm>
            <a:off x="6217920" y="1097280"/>
            <a:ext cx="5440680" cy="4892040"/>
          </a:xfrm>
          <a:prstGeom prst="roundRect">
            <a:avLst/>
          </a:prstGeom>
          <a:solidFill>
            <a:srgbClr val="FFFFFF"/>
          </a:solidFill>
          <a:ln w="19050">
            <a:solidFill>
              <a:srgbClr val="2179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1207007"/>
            <a:ext cx="5111496" cy="320040"/>
          </a:xfrm>
          <a:prstGeom prst="rect">
            <a:avLst/>
          </a:prstGeom>
          <a:noFill/>
        </p:spPr>
        <p:txBody>
          <a:bodyPr wrap="none">
            <a:spAutoFit/>
          </a:bodyPr>
          <a:lstStyle/>
          <a:p>
            <a:pPr>
              <a:defRPr sz="1600" b="1">
                <a:solidFill>
                  <a:srgbClr val="217978"/>
                </a:solidFill>
              </a:defRPr>
            </a:pPr>
            <a:r>
              <a:t>Professional examples</a:t>
            </a:r>
          </a:p>
        </p:txBody>
      </p:sp>
      <p:sp>
        <p:nvSpPr>
          <p:cNvPr id="11" name="TextBox 10"/>
          <p:cNvSpPr txBox="1"/>
          <p:nvPr/>
        </p:nvSpPr>
        <p:spPr>
          <a:xfrm>
            <a:off x="6382512" y="1600200"/>
            <a:ext cx="5111496" cy="4270248"/>
          </a:xfrm>
          <a:prstGeom prst="rect">
            <a:avLst/>
          </a:prstGeom>
          <a:noFill/>
        </p:spPr>
        <p:txBody>
          <a:bodyPr wrap="square">
            <a:spAutoFit/>
          </a:bodyPr>
          <a:lstStyle/>
          <a:p>
            <a:pPr>
              <a:defRPr sz="1400">
                <a:solidFill>
                  <a:srgbClr val="232A32"/>
                </a:solidFill>
              </a:defRPr>
            </a:pPr>
            <a:r>
              <a:t>• She is a software engineer.</a:t>
            </a:r>
            <a:br/>
            <a:r>
              <a:t>• Please send the report to the client.</a:t>
            </a:r>
            <a:br/>
            <a:r>
              <a:t>• Communication is essential in business.</a:t>
            </a:r>
            <a:br/>
            <a:r>
              <a:t>• We discussed the proposal you sent yesterday.</a:t>
            </a:r>
            <a:br/>
            <a:r>
              <a:t>• He works in an international company.</a:t>
            </a:r>
          </a:p>
        </p:txBody>
      </p:sp>
      <p:sp>
        <p:nvSpPr>
          <p:cNvPr id="12" name="TextBox 11"/>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Articles — Correct the Sentences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822960" y="1234440"/>
            <a:ext cx="10515600" cy="3840480"/>
          </a:xfrm>
          <a:prstGeom prst="rect">
            <a:avLst/>
          </a:prstGeom>
          <a:noFill/>
        </p:spPr>
        <p:txBody>
          <a:bodyPr wrap="square">
            <a:spAutoFit/>
          </a:bodyPr>
          <a:lstStyle/>
          <a:p>
            <a:pPr>
              <a:spcAft>
                <a:spcPts val="900"/>
              </a:spcAft>
              <a:defRPr sz="2200" b="0">
                <a:solidFill>
                  <a:srgbClr val="232A32"/>
                </a:solidFill>
              </a:defRPr>
            </a:pPr>
            <a:r>
              <a:t>1. She joined company as software developer.</a:t>
            </a:r>
          </a:p>
          <a:p>
            <a:pPr>
              <a:spcAft>
                <a:spcPts val="900"/>
              </a:spcAft>
              <a:defRPr sz="2200" b="0">
                <a:solidFill>
                  <a:srgbClr val="232A32"/>
                </a:solidFill>
              </a:defRPr>
            </a:pPr>
            <a:r>
              <a:t>2. Please send me an updated version of report.</a:t>
            </a:r>
          </a:p>
          <a:p>
            <a:pPr>
              <a:spcAft>
                <a:spcPts val="900"/>
              </a:spcAft>
              <a:defRPr sz="2200" b="0">
                <a:solidFill>
                  <a:srgbClr val="232A32"/>
                </a:solidFill>
              </a:defRPr>
            </a:pPr>
            <a:r>
              <a:t>3. Communication is important skill for manager.</a:t>
            </a:r>
          </a:p>
          <a:p>
            <a:pPr>
              <a:spcAft>
                <a:spcPts val="900"/>
              </a:spcAft>
              <a:defRPr sz="2200" b="0">
                <a:solidFill>
                  <a:srgbClr val="232A32"/>
                </a:solidFill>
              </a:defRPr>
            </a:pPr>
            <a:r>
              <a:t>4. We discussed the proposal that you sent.</a:t>
            </a:r>
          </a:p>
          <a:p>
            <a:pPr>
              <a:spcAft>
                <a:spcPts val="900"/>
              </a:spcAft>
              <a:defRPr sz="2200" b="0">
                <a:solidFill>
                  <a:srgbClr val="232A32"/>
                </a:solidFill>
              </a:defRPr>
            </a:pPr>
            <a:r>
              <a:t>5. He has experience in software development.</a:t>
            </a:r>
          </a:p>
        </p:txBody>
      </p:sp>
      <p:sp>
        <p:nvSpPr>
          <p:cNvPr id="7" name="Rounded Rectangle 6"/>
          <p:cNvSpPr/>
          <p:nvPr/>
        </p:nvSpPr>
        <p:spPr>
          <a:xfrm>
            <a:off x="822960" y="5303520"/>
            <a:ext cx="10424160" cy="685800"/>
          </a:xfrm>
          <a:prstGeom prst="roundRect">
            <a:avLst/>
          </a:prstGeom>
          <a:solidFill>
            <a:srgbClr val="F4F7FA"/>
          </a:solidFill>
          <a:ln w="19050">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5413248"/>
            <a:ext cx="10094976" cy="320040"/>
          </a:xfrm>
          <a:prstGeom prst="rect">
            <a:avLst/>
          </a:prstGeom>
          <a:noFill/>
        </p:spPr>
        <p:txBody>
          <a:bodyPr wrap="none">
            <a:spAutoFit/>
          </a:bodyPr>
          <a:lstStyle/>
          <a:p>
            <a:pPr>
              <a:defRPr sz="1600" b="1">
                <a:solidFill>
                  <a:srgbClr val="2A5C91"/>
                </a:solidFill>
              </a:defRPr>
            </a:pPr>
            <a:r>
              <a:t>Challenge</a:t>
            </a:r>
          </a:p>
        </p:txBody>
      </p:sp>
      <p:sp>
        <p:nvSpPr>
          <p:cNvPr id="9" name="TextBox 8"/>
          <p:cNvSpPr txBox="1"/>
          <p:nvPr/>
        </p:nvSpPr>
        <p:spPr>
          <a:xfrm>
            <a:off x="987552" y="5806440"/>
            <a:ext cx="10094976" cy="64007"/>
          </a:xfrm>
          <a:prstGeom prst="rect">
            <a:avLst/>
          </a:prstGeom>
          <a:noFill/>
        </p:spPr>
        <p:txBody>
          <a:bodyPr wrap="square">
            <a:spAutoFit/>
          </a:bodyPr>
          <a:lstStyle/>
          <a:p>
            <a:pPr>
              <a:defRPr sz="1400">
                <a:solidFill>
                  <a:srgbClr val="232A32"/>
                </a:solidFill>
              </a:defRPr>
            </a:pPr>
            <a:r>
              <a:t>Which sentences need an article? Which are already correct? Explain why.</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Error Analysis 4 — Prepositions &amp; Collocations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822960" y="1143000"/>
            <a:ext cx="10515600" cy="4114800"/>
          </a:xfrm>
          <a:prstGeom prst="rect">
            <a:avLst/>
          </a:prstGeom>
          <a:noFill/>
        </p:spPr>
        <p:txBody>
          <a:bodyPr wrap="square">
            <a:spAutoFit/>
          </a:bodyPr>
          <a:lstStyle/>
          <a:p>
            <a:pPr>
              <a:spcAft>
                <a:spcPts val="900"/>
              </a:spcAft>
              <a:defRPr sz="2200" b="0">
                <a:solidFill>
                  <a:srgbClr val="232A32"/>
                </a:solidFill>
              </a:defRPr>
            </a:pPr>
            <a:r>
              <a:t>responsible FOR the project</a:t>
            </a:r>
          </a:p>
          <a:p>
            <a:pPr>
              <a:spcAft>
                <a:spcPts val="900"/>
              </a:spcAft>
              <a:defRPr sz="2200" b="0">
                <a:solidFill>
                  <a:srgbClr val="232A32"/>
                </a:solidFill>
              </a:defRPr>
            </a:pPr>
            <a:r>
              <a:t>interested IN data analytics</a:t>
            </a:r>
          </a:p>
          <a:p>
            <a:pPr>
              <a:spcAft>
                <a:spcPts val="900"/>
              </a:spcAft>
              <a:defRPr sz="2200" b="0">
                <a:solidFill>
                  <a:srgbClr val="232A32"/>
                </a:solidFill>
              </a:defRPr>
            </a:pPr>
            <a:r>
              <a:t>depend ON technology</a:t>
            </a:r>
          </a:p>
          <a:p>
            <a:pPr>
              <a:spcAft>
                <a:spcPts val="900"/>
              </a:spcAft>
              <a:defRPr sz="2200" b="0">
                <a:solidFill>
                  <a:srgbClr val="232A32"/>
                </a:solidFill>
              </a:defRPr>
            </a:pPr>
            <a:r>
              <a:t>participate IN a meeting / participate IN a programme</a:t>
            </a:r>
          </a:p>
          <a:p>
            <a:pPr>
              <a:spcAft>
                <a:spcPts val="900"/>
              </a:spcAft>
              <a:defRPr sz="2200" b="0">
                <a:solidFill>
                  <a:srgbClr val="232A32"/>
                </a:solidFill>
              </a:defRPr>
            </a:pPr>
            <a:r>
              <a:t>discuss the problem — NOT discuss about the problem</a:t>
            </a:r>
          </a:p>
          <a:p>
            <a:pPr>
              <a:spcAft>
                <a:spcPts val="900"/>
              </a:spcAft>
              <a:defRPr sz="2200" b="0">
                <a:solidFill>
                  <a:srgbClr val="232A32"/>
                </a:solidFill>
              </a:defRPr>
            </a:pPr>
            <a:r>
              <a:t>request information — NOT request for information (when request is the verb)</a:t>
            </a:r>
          </a:p>
          <a:p>
            <a:pPr>
              <a:spcAft>
                <a:spcPts val="900"/>
              </a:spcAft>
              <a:defRPr sz="2200" b="0">
                <a:solidFill>
                  <a:srgbClr val="232A32"/>
                </a:solidFill>
              </a:defRPr>
            </a:pPr>
            <a:r>
              <a:t>emphasise the point — NOT emphasise on the point</a:t>
            </a:r>
          </a:p>
        </p:txBody>
      </p:sp>
      <p:sp>
        <p:nvSpPr>
          <p:cNvPr id="7" name="Rounded Rectangle 6"/>
          <p:cNvSpPr/>
          <p:nvPr/>
        </p:nvSpPr>
        <p:spPr>
          <a:xfrm>
            <a:off x="822960" y="5440680"/>
            <a:ext cx="10424160" cy="731520"/>
          </a:xfrm>
          <a:prstGeom prst="roundRect">
            <a:avLst/>
          </a:prstGeom>
          <a:solidFill>
            <a:srgbClr val="F4F7FA"/>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5550408"/>
            <a:ext cx="10094976" cy="320040"/>
          </a:xfrm>
          <a:prstGeom prst="rect">
            <a:avLst/>
          </a:prstGeom>
          <a:noFill/>
        </p:spPr>
        <p:txBody>
          <a:bodyPr wrap="none">
            <a:spAutoFit/>
          </a:bodyPr>
          <a:lstStyle/>
          <a:p>
            <a:pPr>
              <a:defRPr sz="1600" b="1">
                <a:solidFill>
                  <a:srgbClr val="E0A337"/>
                </a:solidFill>
              </a:defRPr>
            </a:pPr>
            <a:r>
              <a:t>Why this is difficult</a:t>
            </a:r>
          </a:p>
        </p:txBody>
      </p:sp>
      <p:sp>
        <p:nvSpPr>
          <p:cNvPr id="9" name="TextBox 8"/>
          <p:cNvSpPr txBox="1"/>
          <p:nvPr/>
        </p:nvSpPr>
        <p:spPr>
          <a:xfrm>
            <a:off x="987552" y="5943600"/>
            <a:ext cx="10094976" cy="109728"/>
          </a:xfrm>
          <a:prstGeom prst="rect">
            <a:avLst/>
          </a:prstGeom>
          <a:noFill/>
        </p:spPr>
        <p:txBody>
          <a:bodyPr wrap="square">
            <a:spAutoFit/>
          </a:bodyPr>
          <a:lstStyle/>
          <a:p>
            <a:pPr>
              <a:defRPr sz="1400">
                <a:solidFill>
                  <a:srgbClr val="232A32"/>
                </a:solidFill>
              </a:defRPr>
            </a:pPr>
            <a:r>
              <a:t>Prepositions are often collocational: English speakers learn common word partnerships, not only isolated rules.</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Error Analysis 5 — Pronoun Reference</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731520" y="1143000"/>
            <a:ext cx="10607040" cy="4297680"/>
          </a:xfrm>
          <a:prstGeom prst="rect">
            <a:avLst/>
          </a:prstGeom>
          <a:noFill/>
        </p:spPr>
        <p:txBody>
          <a:bodyPr wrap="square">
            <a:spAutoFit/>
          </a:bodyPr>
          <a:lstStyle/>
          <a:p>
            <a:pPr>
              <a:spcAft>
                <a:spcPts val="900"/>
              </a:spcAft>
              <a:defRPr sz="2100" b="0">
                <a:solidFill>
                  <a:srgbClr val="232A32"/>
                </a:solidFill>
              </a:defRPr>
            </a:pPr>
            <a:r>
              <a:t>Unclear: When the manager spoke to the developer, he was upset. → Who was upset?</a:t>
            </a:r>
          </a:p>
          <a:p>
            <a:pPr>
              <a:spcAft>
                <a:spcPts val="900"/>
              </a:spcAft>
              <a:defRPr sz="2100" b="0">
                <a:solidFill>
                  <a:srgbClr val="232A32"/>
                </a:solidFill>
              </a:defRPr>
            </a:pPr>
            <a:r>
              <a:t>Better: The manager was upset when he spoke to the developer.</a:t>
            </a:r>
          </a:p>
          <a:p>
            <a:pPr>
              <a:spcAft>
                <a:spcPts val="900"/>
              </a:spcAft>
              <a:defRPr sz="2100" b="0">
                <a:solidFill>
                  <a:srgbClr val="232A32"/>
                </a:solidFill>
              </a:defRPr>
            </a:pPr>
            <a:r>
              <a:t>Check agreement: Every student should submit his or her / their work according to the style required.</a:t>
            </a:r>
          </a:p>
          <a:p>
            <a:pPr>
              <a:spcAft>
                <a:spcPts val="900"/>
              </a:spcAft>
              <a:defRPr sz="2100" b="0">
                <a:solidFill>
                  <a:srgbClr val="232A32"/>
                </a:solidFill>
              </a:defRPr>
            </a:pPr>
            <a:r>
              <a:t>Check reference: A pronoun should clearly point to one identifiable noun.</a:t>
            </a:r>
          </a:p>
          <a:p>
            <a:pPr>
              <a:spcAft>
                <a:spcPts val="900"/>
              </a:spcAft>
              <a:defRPr sz="2100" b="0">
                <a:solidFill>
                  <a:srgbClr val="232A32"/>
                </a:solidFill>
              </a:defRPr>
            </a:pPr>
            <a:r>
              <a:t>Professional writing avoids ambiguity because ambiguity can change the meaning of instructions.</a:t>
            </a:r>
          </a:p>
        </p:txBody>
      </p:sp>
      <p:sp>
        <p:nvSpPr>
          <p:cNvPr id="7" name="Rounded Rectangle 6"/>
          <p:cNvSpPr/>
          <p:nvPr/>
        </p:nvSpPr>
        <p:spPr>
          <a:xfrm>
            <a:off x="822960" y="5486400"/>
            <a:ext cx="10424160" cy="685800"/>
          </a:xfrm>
          <a:prstGeom prst="roundRect">
            <a:avLst/>
          </a:prstGeom>
          <a:solidFill>
            <a:srgbClr val="F4F7FA"/>
          </a:solidFill>
          <a:ln w="19050">
            <a:solidFill>
              <a:srgbClr val="2179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5596128"/>
            <a:ext cx="10094976" cy="320040"/>
          </a:xfrm>
          <a:prstGeom prst="rect">
            <a:avLst/>
          </a:prstGeom>
          <a:noFill/>
        </p:spPr>
        <p:txBody>
          <a:bodyPr wrap="none">
            <a:spAutoFit/>
          </a:bodyPr>
          <a:lstStyle/>
          <a:p>
            <a:pPr>
              <a:defRPr sz="1600" b="1">
                <a:solidFill>
                  <a:srgbClr val="217978"/>
                </a:solidFill>
              </a:defRPr>
            </a:pPr>
            <a:r>
              <a:t>MCA example</a:t>
            </a:r>
          </a:p>
        </p:txBody>
      </p:sp>
      <p:sp>
        <p:nvSpPr>
          <p:cNvPr id="9" name="TextBox 8"/>
          <p:cNvSpPr txBox="1"/>
          <p:nvPr/>
        </p:nvSpPr>
        <p:spPr>
          <a:xfrm>
            <a:off x="987552" y="5989320"/>
            <a:ext cx="10094976" cy="64007"/>
          </a:xfrm>
          <a:prstGeom prst="rect">
            <a:avLst/>
          </a:prstGeom>
          <a:noFill/>
        </p:spPr>
        <p:txBody>
          <a:bodyPr wrap="square">
            <a:spAutoFit/>
          </a:bodyPr>
          <a:lstStyle/>
          <a:p>
            <a:pPr>
              <a:defRPr sz="1400">
                <a:solidFill>
                  <a:srgbClr val="232A32"/>
                </a:solidFill>
              </a:defRPr>
            </a:pPr>
            <a:r>
              <a:t>“The developer told the tester that they had changed the code.” → Who changed the code? If unclear, rewrite.</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Error Analysis 6 — Parallelism</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Rounded Rectangle 5"/>
          <p:cNvSpPr/>
          <p:nvPr/>
        </p:nvSpPr>
        <p:spPr>
          <a:xfrm>
            <a:off x="548640" y="1097280"/>
            <a:ext cx="5440680" cy="4892040"/>
          </a:xfrm>
          <a:prstGeom prst="roundRect">
            <a:avLst/>
          </a:prstGeom>
          <a:solidFill>
            <a:srgbClr val="FFFFFF"/>
          </a:solidFill>
          <a:ln w="19050">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207007"/>
            <a:ext cx="5111496" cy="320040"/>
          </a:xfrm>
          <a:prstGeom prst="rect">
            <a:avLst/>
          </a:prstGeom>
          <a:noFill/>
        </p:spPr>
        <p:txBody>
          <a:bodyPr wrap="none">
            <a:spAutoFit/>
          </a:bodyPr>
          <a:lstStyle/>
          <a:p>
            <a:pPr>
              <a:defRPr sz="1600" b="1">
                <a:solidFill>
                  <a:srgbClr val="2A5C91"/>
                </a:solidFill>
              </a:defRPr>
            </a:pPr>
            <a:r>
              <a:t>Incorrect</a:t>
            </a:r>
          </a:p>
        </p:txBody>
      </p:sp>
      <p:sp>
        <p:nvSpPr>
          <p:cNvPr id="8" name="TextBox 7"/>
          <p:cNvSpPr txBox="1"/>
          <p:nvPr/>
        </p:nvSpPr>
        <p:spPr>
          <a:xfrm>
            <a:off x="713232" y="1600200"/>
            <a:ext cx="5111496" cy="4270248"/>
          </a:xfrm>
          <a:prstGeom prst="rect">
            <a:avLst/>
          </a:prstGeom>
          <a:noFill/>
        </p:spPr>
        <p:txBody>
          <a:bodyPr wrap="square">
            <a:spAutoFit/>
          </a:bodyPr>
          <a:lstStyle/>
          <a:p>
            <a:pPr>
              <a:defRPr sz="1400">
                <a:solidFill>
                  <a:srgbClr val="232A32"/>
                </a:solidFill>
              </a:defRPr>
            </a:pPr>
            <a:r>
              <a:t>• The role requires planning, coding and to test.</a:t>
            </a:r>
            <a:br/>
            <a:r>
              <a:t>• She likes reading, writing and to present.</a:t>
            </a:r>
            <a:br/>
            <a:r>
              <a:t>• The system is designed to store, process and analysing data.</a:t>
            </a:r>
          </a:p>
        </p:txBody>
      </p:sp>
      <p:sp>
        <p:nvSpPr>
          <p:cNvPr id="9" name="Rounded Rectangle 8"/>
          <p:cNvSpPr/>
          <p:nvPr/>
        </p:nvSpPr>
        <p:spPr>
          <a:xfrm>
            <a:off x="6217920" y="1097280"/>
            <a:ext cx="5440680" cy="4892040"/>
          </a:xfrm>
          <a:prstGeom prst="roundRect">
            <a:avLst/>
          </a:prstGeom>
          <a:solidFill>
            <a:srgbClr val="FFFFFF"/>
          </a:solidFill>
          <a:ln w="19050">
            <a:solidFill>
              <a:srgbClr val="2179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1207007"/>
            <a:ext cx="5111496" cy="320040"/>
          </a:xfrm>
          <a:prstGeom prst="rect">
            <a:avLst/>
          </a:prstGeom>
          <a:noFill/>
        </p:spPr>
        <p:txBody>
          <a:bodyPr wrap="none">
            <a:spAutoFit/>
          </a:bodyPr>
          <a:lstStyle/>
          <a:p>
            <a:pPr>
              <a:defRPr sz="1600" b="1">
                <a:solidFill>
                  <a:srgbClr val="217978"/>
                </a:solidFill>
              </a:defRPr>
            </a:pPr>
            <a:r>
              <a:t>Correct</a:t>
            </a:r>
          </a:p>
        </p:txBody>
      </p:sp>
      <p:sp>
        <p:nvSpPr>
          <p:cNvPr id="11" name="TextBox 10"/>
          <p:cNvSpPr txBox="1"/>
          <p:nvPr/>
        </p:nvSpPr>
        <p:spPr>
          <a:xfrm>
            <a:off x="6382512" y="1600200"/>
            <a:ext cx="5111496" cy="4270248"/>
          </a:xfrm>
          <a:prstGeom prst="rect">
            <a:avLst/>
          </a:prstGeom>
          <a:noFill/>
        </p:spPr>
        <p:txBody>
          <a:bodyPr wrap="square">
            <a:spAutoFit/>
          </a:bodyPr>
          <a:lstStyle/>
          <a:p>
            <a:pPr>
              <a:defRPr sz="1400">
                <a:solidFill>
                  <a:srgbClr val="232A32"/>
                </a:solidFill>
              </a:defRPr>
            </a:pPr>
            <a:r>
              <a:t>• The role requires planning, coding and testing.</a:t>
            </a:r>
            <a:br/>
            <a:r>
              <a:t>• She likes reading, writing and presenting.</a:t>
            </a:r>
            <a:br/>
            <a:r>
              <a:t>• The system is designed to store, process and analyse data.</a:t>
            </a:r>
          </a:p>
        </p:txBody>
      </p:sp>
      <p:sp>
        <p:nvSpPr>
          <p:cNvPr id="12" name="Rounded Rectangle 11"/>
          <p:cNvSpPr/>
          <p:nvPr/>
        </p:nvSpPr>
        <p:spPr>
          <a:xfrm>
            <a:off x="822960" y="5394960"/>
            <a:ext cx="10424160" cy="685800"/>
          </a:xfrm>
          <a:prstGeom prst="roundRect">
            <a:avLst/>
          </a:prstGeom>
          <a:solidFill>
            <a:srgbClr val="F4F7FA"/>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7552" y="5504688"/>
            <a:ext cx="10094976" cy="320040"/>
          </a:xfrm>
          <a:prstGeom prst="rect">
            <a:avLst/>
          </a:prstGeom>
          <a:noFill/>
        </p:spPr>
        <p:txBody>
          <a:bodyPr wrap="none">
            <a:spAutoFit/>
          </a:bodyPr>
          <a:lstStyle/>
          <a:p>
            <a:pPr>
              <a:defRPr sz="1600" b="1">
                <a:solidFill>
                  <a:srgbClr val="E0A337"/>
                </a:solidFill>
              </a:defRPr>
            </a:pPr>
            <a:r>
              <a:t>Shortcut</a:t>
            </a:r>
          </a:p>
        </p:txBody>
      </p:sp>
      <p:sp>
        <p:nvSpPr>
          <p:cNvPr id="14" name="TextBox 13"/>
          <p:cNvSpPr txBox="1"/>
          <p:nvPr/>
        </p:nvSpPr>
        <p:spPr>
          <a:xfrm>
            <a:off x="987552" y="5897880"/>
            <a:ext cx="10094976" cy="64007"/>
          </a:xfrm>
          <a:prstGeom prst="rect">
            <a:avLst/>
          </a:prstGeom>
          <a:noFill/>
        </p:spPr>
        <p:txBody>
          <a:bodyPr wrap="square">
            <a:spAutoFit/>
          </a:bodyPr>
          <a:lstStyle/>
          <a:p>
            <a:pPr>
              <a:defRPr sz="1400">
                <a:solidFill>
                  <a:srgbClr val="232A32"/>
                </a:solidFill>
              </a:defRPr>
            </a:pPr>
            <a:r>
              <a:t>Items joined by and / or should normally have the same grammatical form.</a:t>
            </a:r>
          </a:p>
        </p:txBody>
      </p:sp>
      <p:sp>
        <p:nvSpPr>
          <p:cNvPr id="15" name="TextBox 14"/>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27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Error Analysis 7 — Misplaced Modifiers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731520" y="1143000"/>
            <a:ext cx="10607040" cy="4297680"/>
          </a:xfrm>
          <a:prstGeom prst="rect">
            <a:avLst/>
          </a:prstGeom>
          <a:noFill/>
        </p:spPr>
        <p:txBody>
          <a:bodyPr wrap="square">
            <a:spAutoFit/>
          </a:bodyPr>
          <a:lstStyle/>
          <a:p>
            <a:pPr>
              <a:spcAft>
                <a:spcPts val="900"/>
              </a:spcAft>
              <a:defRPr sz="2100" b="0">
                <a:solidFill>
                  <a:srgbClr val="232A32"/>
                </a:solidFill>
              </a:defRPr>
            </a:pPr>
            <a:r>
              <a:t>Confusing: Using the new software, the report was completed quickly.</a:t>
            </a:r>
          </a:p>
          <a:p>
            <a:pPr>
              <a:spcAft>
                <a:spcPts val="900"/>
              </a:spcAft>
              <a:defRPr sz="2100" b="0">
                <a:solidFill>
                  <a:srgbClr val="232A32"/>
                </a:solidFill>
              </a:defRPr>
            </a:pPr>
            <a:r>
              <a:t>Problem: Grammatically, “the report” appears to be using the software.</a:t>
            </a:r>
          </a:p>
          <a:p>
            <a:pPr>
              <a:spcAft>
                <a:spcPts val="900"/>
              </a:spcAft>
              <a:defRPr sz="2100" b="0">
                <a:solidFill>
                  <a:srgbClr val="232A32"/>
                </a:solidFill>
              </a:defRPr>
            </a:pPr>
            <a:r>
              <a:t>Better: Using the new software, the team completed the report quickly.</a:t>
            </a:r>
          </a:p>
          <a:p>
            <a:pPr>
              <a:spcAft>
                <a:spcPts val="900"/>
              </a:spcAft>
              <a:defRPr sz="2100" b="0">
                <a:solidFill>
                  <a:srgbClr val="232A32"/>
                </a:solidFill>
              </a:defRPr>
            </a:pPr>
            <a:r>
              <a:t>Confusing: The manager almost approved every application.</a:t>
            </a:r>
          </a:p>
          <a:p>
            <a:pPr>
              <a:spcAft>
                <a:spcPts val="900"/>
              </a:spcAft>
              <a:defRPr sz="2100" b="0">
                <a:solidFill>
                  <a:srgbClr val="232A32"/>
                </a:solidFill>
              </a:defRPr>
            </a:pPr>
            <a:r>
              <a:t>Meaning changes depending on modifier position: almost every ≠ every almost.</a:t>
            </a:r>
          </a:p>
        </p:txBody>
      </p:sp>
      <p:sp>
        <p:nvSpPr>
          <p:cNvPr id="7" name="Rounded Rectangle 6"/>
          <p:cNvSpPr/>
          <p:nvPr/>
        </p:nvSpPr>
        <p:spPr>
          <a:xfrm>
            <a:off x="822960" y="5486400"/>
            <a:ext cx="10424160" cy="685800"/>
          </a:xfrm>
          <a:prstGeom prst="roundRect">
            <a:avLst/>
          </a:prstGeom>
          <a:solidFill>
            <a:srgbClr val="F4F7FA"/>
          </a:solidFill>
          <a:ln w="19050">
            <a:solidFill>
              <a:srgbClr val="B1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5596128"/>
            <a:ext cx="10094976" cy="320040"/>
          </a:xfrm>
          <a:prstGeom prst="rect">
            <a:avLst/>
          </a:prstGeom>
          <a:noFill/>
        </p:spPr>
        <p:txBody>
          <a:bodyPr wrap="none">
            <a:spAutoFit/>
          </a:bodyPr>
          <a:lstStyle/>
          <a:p>
            <a:pPr>
              <a:defRPr sz="1600" b="1">
                <a:solidFill>
                  <a:srgbClr val="B13737"/>
                </a:solidFill>
              </a:defRPr>
            </a:pPr>
            <a:r>
              <a:t>Editing question</a:t>
            </a:r>
          </a:p>
        </p:txBody>
      </p:sp>
      <p:sp>
        <p:nvSpPr>
          <p:cNvPr id="9" name="TextBox 8"/>
          <p:cNvSpPr txBox="1"/>
          <p:nvPr/>
        </p:nvSpPr>
        <p:spPr>
          <a:xfrm>
            <a:off x="987552" y="5989320"/>
            <a:ext cx="10094976" cy="64007"/>
          </a:xfrm>
          <a:prstGeom prst="rect">
            <a:avLst/>
          </a:prstGeom>
          <a:noFill/>
        </p:spPr>
        <p:txBody>
          <a:bodyPr wrap="square">
            <a:spAutoFit/>
          </a:bodyPr>
          <a:lstStyle/>
          <a:p>
            <a:pPr>
              <a:defRPr sz="1400">
                <a:solidFill>
                  <a:srgbClr val="232A32"/>
                </a:solidFill>
              </a:defRPr>
            </a:pPr>
            <a:r>
              <a:t>Who performed the action in the opening phrase? Put that person / thing immediately after the modifier.</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28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Error Analysis 8 — Redundancy &amp; Wordiness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822960" y="1097280"/>
            <a:ext cx="10515600" cy="4389120"/>
          </a:xfrm>
          <a:prstGeom prst="rect">
            <a:avLst/>
          </a:prstGeom>
          <a:noFill/>
        </p:spPr>
        <p:txBody>
          <a:bodyPr wrap="square">
            <a:spAutoFit/>
          </a:bodyPr>
          <a:lstStyle/>
          <a:p>
            <a:pPr>
              <a:spcAft>
                <a:spcPts val="900"/>
              </a:spcAft>
              <a:defRPr sz="2100" b="0">
                <a:solidFill>
                  <a:srgbClr val="232A32"/>
                </a:solidFill>
              </a:defRPr>
            </a:pPr>
            <a:r>
              <a:t>❌ return back → ✅ return</a:t>
            </a:r>
          </a:p>
          <a:p>
            <a:pPr>
              <a:spcAft>
                <a:spcPts val="900"/>
              </a:spcAft>
              <a:defRPr sz="2100" b="0">
                <a:solidFill>
                  <a:srgbClr val="232A32"/>
                </a:solidFill>
              </a:defRPr>
            </a:pPr>
            <a:r>
              <a:t>❌ repeat again → ✅ repeat</a:t>
            </a:r>
          </a:p>
          <a:p>
            <a:pPr>
              <a:spcAft>
                <a:spcPts val="900"/>
              </a:spcAft>
              <a:defRPr sz="2100" b="0">
                <a:solidFill>
                  <a:srgbClr val="232A32"/>
                </a:solidFill>
              </a:defRPr>
            </a:pPr>
            <a:r>
              <a:t>❌ discuss about → ✅ discuss</a:t>
            </a:r>
          </a:p>
          <a:p>
            <a:pPr>
              <a:spcAft>
                <a:spcPts val="900"/>
              </a:spcAft>
              <a:defRPr sz="2100" b="0">
                <a:solidFill>
                  <a:srgbClr val="232A32"/>
                </a:solidFill>
              </a:defRPr>
            </a:pPr>
            <a:r>
              <a:t>❌ future plans → often simply plans</a:t>
            </a:r>
          </a:p>
          <a:p>
            <a:pPr>
              <a:spcAft>
                <a:spcPts val="900"/>
              </a:spcAft>
              <a:defRPr sz="2100" b="0">
                <a:solidFill>
                  <a:srgbClr val="232A32"/>
                </a:solidFill>
              </a:defRPr>
            </a:pPr>
            <a:r>
              <a:t>❌ in order to → often to</a:t>
            </a:r>
          </a:p>
          <a:p>
            <a:pPr>
              <a:spcAft>
                <a:spcPts val="900"/>
              </a:spcAft>
              <a:defRPr sz="2100" b="0">
                <a:solidFill>
                  <a:srgbClr val="232A32"/>
                </a:solidFill>
              </a:defRPr>
            </a:pPr>
            <a:r>
              <a:t>❌ due to the fact that → because</a:t>
            </a:r>
          </a:p>
          <a:p>
            <a:pPr>
              <a:spcAft>
                <a:spcPts val="900"/>
              </a:spcAft>
              <a:defRPr sz="2100" b="0">
                <a:solidFill>
                  <a:srgbClr val="232A32"/>
                </a:solidFill>
              </a:defRPr>
            </a:pPr>
            <a:r>
              <a:t>❌ at this point in time → now</a:t>
            </a:r>
          </a:p>
          <a:p>
            <a:pPr>
              <a:spcAft>
                <a:spcPts val="900"/>
              </a:spcAft>
              <a:defRPr sz="2100" b="0">
                <a:solidFill>
                  <a:srgbClr val="232A32"/>
                </a:solidFill>
              </a:defRPr>
            </a:pPr>
            <a:r>
              <a:t>❌ very unique → unique</a:t>
            </a:r>
          </a:p>
        </p:txBody>
      </p:sp>
      <p:sp>
        <p:nvSpPr>
          <p:cNvPr id="7" name="Rounded Rectangle 6"/>
          <p:cNvSpPr/>
          <p:nvPr/>
        </p:nvSpPr>
        <p:spPr>
          <a:xfrm>
            <a:off x="822960" y="5532120"/>
            <a:ext cx="10424160" cy="658368"/>
          </a:xfrm>
          <a:prstGeom prst="roundRect">
            <a:avLst/>
          </a:prstGeom>
          <a:solidFill>
            <a:srgbClr val="F4F7FA"/>
          </a:solidFill>
          <a:ln w="19050">
            <a:solidFill>
              <a:srgbClr val="2179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5641848"/>
            <a:ext cx="10094976" cy="320040"/>
          </a:xfrm>
          <a:prstGeom prst="rect">
            <a:avLst/>
          </a:prstGeom>
          <a:noFill/>
        </p:spPr>
        <p:txBody>
          <a:bodyPr wrap="none">
            <a:spAutoFit/>
          </a:bodyPr>
          <a:lstStyle/>
          <a:p>
            <a:pPr>
              <a:defRPr sz="1600" b="1">
                <a:solidFill>
                  <a:srgbClr val="217978"/>
                </a:solidFill>
              </a:defRPr>
            </a:pPr>
            <a:r>
              <a:t>Professional editing principle</a:t>
            </a:r>
          </a:p>
        </p:txBody>
      </p:sp>
      <p:sp>
        <p:nvSpPr>
          <p:cNvPr id="9" name="TextBox 8"/>
          <p:cNvSpPr txBox="1"/>
          <p:nvPr/>
        </p:nvSpPr>
        <p:spPr>
          <a:xfrm>
            <a:off x="987552" y="6035040"/>
            <a:ext cx="10094976" cy="36575"/>
          </a:xfrm>
          <a:prstGeom prst="rect">
            <a:avLst/>
          </a:prstGeom>
          <a:noFill/>
        </p:spPr>
        <p:txBody>
          <a:bodyPr wrap="square">
            <a:spAutoFit/>
          </a:bodyPr>
          <a:lstStyle/>
          <a:p>
            <a:pPr>
              <a:defRPr sz="1400">
                <a:solidFill>
                  <a:srgbClr val="232A32"/>
                </a:solidFill>
              </a:defRPr>
            </a:pPr>
            <a:r>
              <a:t>Remove words that add no meaning — but never remove information that the reader needs.</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29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Mixed Error Analysis — MCA Challenge</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40080" y="1051560"/>
            <a:ext cx="10972800" cy="5120640"/>
          </a:xfrm>
          <a:prstGeom prst="rect">
            <a:avLst/>
          </a:prstGeom>
          <a:noFill/>
        </p:spPr>
        <p:txBody>
          <a:bodyPr wrap="square">
            <a:spAutoFit/>
          </a:bodyPr>
          <a:lstStyle/>
          <a:p>
            <a:pPr>
              <a:spcAft>
                <a:spcPts val="900"/>
              </a:spcAft>
              <a:defRPr sz="1800" b="0">
                <a:solidFill>
                  <a:srgbClr val="232A32"/>
                </a:solidFill>
              </a:defRPr>
            </a:pPr>
            <a:r>
              <a:t>1. Each of the modules have been tested thoroughly.</a:t>
            </a:r>
          </a:p>
          <a:p>
            <a:pPr>
              <a:spcAft>
                <a:spcPts val="900"/>
              </a:spcAft>
              <a:defRPr sz="1800" b="0">
                <a:solidFill>
                  <a:srgbClr val="232A32"/>
                </a:solidFill>
              </a:defRPr>
            </a:pPr>
            <a:r>
              <a:t>2. The team discussed about the issue in the meeting.</a:t>
            </a:r>
          </a:p>
          <a:p>
            <a:pPr>
              <a:spcAft>
                <a:spcPts val="900"/>
              </a:spcAft>
              <a:defRPr sz="1800" b="0">
                <a:solidFill>
                  <a:srgbClr val="232A32"/>
                </a:solidFill>
              </a:defRPr>
            </a:pPr>
            <a:r>
              <a:t>3. She is responsible to manage the deployment.</a:t>
            </a:r>
          </a:p>
          <a:p>
            <a:pPr>
              <a:spcAft>
                <a:spcPts val="900"/>
              </a:spcAft>
              <a:defRPr sz="1800" b="0">
                <a:solidFill>
                  <a:srgbClr val="232A32"/>
                </a:solidFill>
              </a:defRPr>
            </a:pPr>
            <a:r>
              <a:t>4. The report which you sent yesterday were incomplete.</a:t>
            </a:r>
          </a:p>
          <a:p>
            <a:pPr>
              <a:spcAft>
                <a:spcPts val="900"/>
              </a:spcAft>
              <a:defRPr sz="1800" b="0">
                <a:solidFill>
                  <a:srgbClr val="232A32"/>
                </a:solidFill>
              </a:defRPr>
            </a:pPr>
            <a:r>
              <a:t>5. Using the dashboard, the data was analysed by the intern.</a:t>
            </a:r>
          </a:p>
          <a:p>
            <a:pPr>
              <a:spcAft>
                <a:spcPts val="900"/>
              </a:spcAft>
              <a:defRPr sz="1800" b="0">
                <a:solidFill>
                  <a:srgbClr val="232A32"/>
                </a:solidFill>
              </a:defRPr>
            </a:pPr>
            <a:r>
              <a:t>6. The project requires planning, designing and to test.</a:t>
            </a:r>
          </a:p>
          <a:p>
            <a:pPr>
              <a:spcAft>
                <a:spcPts val="900"/>
              </a:spcAft>
              <a:defRPr sz="1800" b="0">
                <a:solidFill>
                  <a:srgbClr val="232A32"/>
                </a:solidFill>
              </a:defRPr>
            </a:pPr>
            <a:r>
              <a:t>7. We have completed the task yesterday.</a:t>
            </a:r>
          </a:p>
          <a:p>
            <a:pPr>
              <a:spcAft>
                <a:spcPts val="900"/>
              </a:spcAft>
              <a:defRPr sz="1800" b="0">
                <a:solidFill>
                  <a:srgbClr val="232A32"/>
                </a:solidFill>
              </a:defRPr>
            </a:pPr>
            <a:r>
              <a:t>8. Please return back the signed form.</a:t>
            </a:r>
          </a:p>
        </p:txBody>
      </p:sp>
      <p:sp>
        <p:nvSpPr>
          <p:cNvPr id="7" name="Rounded Rectangle 6"/>
          <p:cNvSpPr/>
          <p:nvPr/>
        </p:nvSpPr>
        <p:spPr>
          <a:xfrm>
            <a:off x="731520" y="5532120"/>
            <a:ext cx="10698480" cy="658368"/>
          </a:xfrm>
          <a:prstGeom prst="roundRect">
            <a:avLst/>
          </a:prstGeom>
          <a:solidFill>
            <a:srgbClr val="F4F7FA"/>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5641848"/>
            <a:ext cx="10369296" cy="320040"/>
          </a:xfrm>
          <a:prstGeom prst="rect">
            <a:avLst/>
          </a:prstGeom>
          <a:noFill/>
        </p:spPr>
        <p:txBody>
          <a:bodyPr wrap="none">
            <a:spAutoFit/>
          </a:bodyPr>
          <a:lstStyle/>
          <a:p>
            <a:pPr>
              <a:defRPr sz="1600" b="1">
                <a:solidFill>
                  <a:srgbClr val="E0A337"/>
                </a:solidFill>
              </a:defRPr>
            </a:pPr>
            <a:r>
              <a:t>Instructions</a:t>
            </a:r>
          </a:p>
        </p:txBody>
      </p:sp>
      <p:sp>
        <p:nvSpPr>
          <p:cNvPr id="9" name="TextBox 8"/>
          <p:cNvSpPr txBox="1"/>
          <p:nvPr/>
        </p:nvSpPr>
        <p:spPr>
          <a:xfrm>
            <a:off x="896112" y="6035040"/>
            <a:ext cx="10369296" cy="36575"/>
          </a:xfrm>
          <a:prstGeom prst="rect">
            <a:avLst/>
          </a:prstGeom>
          <a:noFill/>
        </p:spPr>
        <p:txBody>
          <a:bodyPr wrap="square">
            <a:spAutoFit/>
          </a:bodyPr>
          <a:lstStyle/>
          <a:p>
            <a:pPr>
              <a:defRPr sz="1400">
                <a:solidFill>
                  <a:srgbClr val="232A32"/>
                </a:solidFill>
              </a:defRPr>
            </a:pPr>
            <a:r>
              <a:t>For each: underline the error → name the category → correct it → explain the rule in ONE sentence.</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30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Mixed Error Analysis — Answer Key</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40080" y="1051560"/>
            <a:ext cx="10972800" cy="5120640"/>
          </a:xfrm>
          <a:prstGeom prst="rect">
            <a:avLst/>
          </a:prstGeom>
          <a:noFill/>
        </p:spPr>
        <p:txBody>
          <a:bodyPr wrap="square">
            <a:spAutoFit/>
          </a:bodyPr>
          <a:lstStyle/>
          <a:p>
            <a:pPr>
              <a:spcAft>
                <a:spcPts val="900"/>
              </a:spcAft>
              <a:defRPr sz="1800" b="0">
                <a:solidFill>
                  <a:srgbClr val="232A32"/>
                </a:solidFill>
              </a:defRPr>
            </a:pPr>
            <a:r>
              <a:t>1. Each ... has been tested. [agreement: each = singular]</a:t>
            </a:r>
          </a:p>
          <a:p>
            <a:pPr>
              <a:spcAft>
                <a:spcPts val="900"/>
              </a:spcAft>
              <a:defRPr sz="1800" b="0">
                <a:solidFill>
                  <a:srgbClr val="232A32"/>
                </a:solidFill>
              </a:defRPr>
            </a:pPr>
            <a:r>
              <a:t>2. discussed the issue. [collocation: discuss does not take about]</a:t>
            </a:r>
          </a:p>
          <a:p>
            <a:pPr>
              <a:spcAft>
                <a:spcPts val="900"/>
              </a:spcAft>
              <a:defRPr sz="1800" b="0">
                <a:solidFill>
                  <a:srgbClr val="232A32"/>
                </a:solidFill>
              </a:defRPr>
            </a:pPr>
            <a:r>
              <a:t>3. responsible for managing the deployment. [preposition + gerund]</a:t>
            </a:r>
          </a:p>
          <a:p>
            <a:pPr>
              <a:spcAft>
                <a:spcPts val="900"/>
              </a:spcAft>
              <a:defRPr sz="1800" b="0">
                <a:solidFill>
                  <a:srgbClr val="232A32"/>
                </a:solidFill>
              </a:defRPr>
            </a:pPr>
            <a:r>
              <a:t>4. report ... was incomplete. [agreement: report = singular]</a:t>
            </a:r>
          </a:p>
          <a:p>
            <a:pPr>
              <a:spcAft>
                <a:spcPts val="900"/>
              </a:spcAft>
              <a:defRPr sz="1800" b="0">
                <a:solidFill>
                  <a:srgbClr val="232A32"/>
                </a:solidFill>
              </a:defRPr>
            </a:pPr>
            <a:r>
              <a:t>5. Using the dashboard, the intern analysed the data. [modifier attachment]</a:t>
            </a:r>
          </a:p>
          <a:p>
            <a:pPr>
              <a:spcAft>
                <a:spcPts val="900"/>
              </a:spcAft>
              <a:defRPr sz="1800" b="0">
                <a:solidFill>
                  <a:srgbClr val="232A32"/>
                </a:solidFill>
              </a:defRPr>
            </a:pPr>
            <a:r>
              <a:t>6. requires planning, designing and testing. [parallelism]</a:t>
            </a:r>
          </a:p>
          <a:p>
            <a:pPr>
              <a:spcAft>
                <a:spcPts val="900"/>
              </a:spcAft>
              <a:defRPr sz="1800" b="0">
                <a:solidFill>
                  <a:srgbClr val="232A32"/>
                </a:solidFill>
              </a:defRPr>
            </a:pPr>
            <a:r>
              <a:t>7. We completed the task yesterday. [past simple with finished time]</a:t>
            </a:r>
          </a:p>
          <a:p>
            <a:pPr>
              <a:spcAft>
                <a:spcPts val="900"/>
              </a:spcAft>
              <a:defRPr sz="1800" b="0">
                <a:solidFill>
                  <a:srgbClr val="232A32"/>
                </a:solidFill>
              </a:defRPr>
            </a:pPr>
            <a:r>
              <a:t>8. Please return the signed form. [redundancy]</a:t>
            </a:r>
          </a:p>
        </p:txBody>
      </p:sp>
      <p:sp>
        <p:nvSpPr>
          <p:cNvPr id="7" name="TextBox 6"/>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31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10-Minute Classroom Activity — ERROR CLINIC</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85800" y="1143000"/>
            <a:ext cx="10789920" cy="5029200"/>
          </a:xfrm>
          <a:prstGeom prst="rect">
            <a:avLst/>
          </a:prstGeom>
          <a:noFill/>
        </p:spPr>
        <p:txBody>
          <a:bodyPr wrap="square">
            <a:spAutoFit/>
          </a:bodyPr>
          <a:lstStyle/>
          <a:p>
            <a:pPr>
              <a:spcAft>
                <a:spcPts val="900"/>
              </a:spcAft>
              <a:defRPr sz="2000" b="0">
                <a:solidFill>
                  <a:srgbClr val="232A32"/>
                </a:solidFill>
              </a:defRPr>
            </a:pPr>
            <a:r>
              <a:t>Individual work — no groups required.</a:t>
            </a:r>
          </a:p>
          <a:p>
            <a:pPr>
              <a:spcAft>
                <a:spcPts val="900"/>
              </a:spcAft>
              <a:defRPr sz="2000" b="0">
                <a:solidFill>
                  <a:srgbClr val="232A32"/>
                </a:solidFill>
              </a:defRPr>
            </a:pPr>
            <a:r>
              <a:t>Give each student the 8-sentence mixed-error slide.</a:t>
            </a:r>
          </a:p>
          <a:p>
            <a:pPr>
              <a:spcAft>
                <a:spcPts val="900"/>
              </a:spcAft>
              <a:defRPr sz="2000" b="0">
                <a:solidFill>
                  <a:srgbClr val="232A32"/>
                </a:solidFill>
              </a:defRPr>
            </a:pPr>
            <a:r>
              <a:t>Round 1 (3 min): silently identify the error category.</a:t>
            </a:r>
          </a:p>
          <a:p>
            <a:pPr>
              <a:spcAft>
                <a:spcPts val="900"/>
              </a:spcAft>
              <a:defRPr sz="2000" b="0">
                <a:solidFill>
                  <a:srgbClr val="232A32"/>
                </a:solidFill>
              </a:defRPr>
            </a:pPr>
            <a:r>
              <a:t>Round 2 (3 min): correct each sentence.</a:t>
            </a:r>
          </a:p>
          <a:p>
            <a:pPr>
              <a:spcAft>
                <a:spcPts val="900"/>
              </a:spcAft>
              <a:defRPr sz="2000" b="0">
                <a:solidFill>
                  <a:srgbClr val="232A32"/>
                </a:solidFill>
              </a:defRPr>
            </a:pPr>
            <a:r>
              <a:t>Round 3 (2 min): write the rule / reason beside any TWO corrections.</a:t>
            </a:r>
          </a:p>
          <a:p>
            <a:pPr>
              <a:spcAft>
                <a:spcPts val="900"/>
              </a:spcAft>
              <a:defRPr sz="2000" b="0">
                <a:solidFill>
                  <a:srgbClr val="232A32"/>
                </a:solidFill>
              </a:defRPr>
            </a:pPr>
            <a:r>
              <a:t>Round 4 (2 min): teacher reveals answers; students self-score.</a:t>
            </a:r>
          </a:p>
          <a:p>
            <a:pPr>
              <a:spcAft>
                <a:spcPts val="900"/>
              </a:spcAft>
              <a:defRPr sz="2000" b="0">
                <a:solidFill>
                  <a:srgbClr val="232A32"/>
                </a:solidFill>
              </a:defRPr>
            </a:pPr>
            <a:r>
              <a:t>Scoring: 1 mark for category + 1 for correction + 1 for explanation = 24 possible marks.</a:t>
            </a:r>
          </a:p>
        </p:txBody>
      </p:sp>
      <p:sp>
        <p:nvSpPr>
          <p:cNvPr id="7" name="Rounded Rectangle 6"/>
          <p:cNvSpPr/>
          <p:nvPr/>
        </p:nvSpPr>
        <p:spPr>
          <a:xfrm>
            <a:off x="822960" y="5623560"/>
            <a:ext cx="10424160" cy="548640"/>
          </a:xfrm>
          <a:prstGeom prst="roundRect">
            <a:avLst/>
          </a:prstGeom>
          <a:solidFill>
            <a:srgbClr val="F4F7FA"/>
          </a:solidFill>
          <a:ln w="19050">
            <a:solidFill>
              <a:srgbClr val="2179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5733288"/>
            <a:ext cx="10094976" cy="320040"/>
          </a:xfrm>
          <a:prstGeom prst="rect">
            <a:avLst/>
          </a:prstGeom>
          <a:noFill/>
        </p:spPr>
        <p:txBody>
          <a:bodyPr wrap="none">
            <a:spAutoFit/>
          </a:bodyPr>
          <a:lstStyle/>
          <a:p>
            <a:pPr>
              <a:defRPr sz="1600" b="1">
                <a:solidFill>
                  <a:srgbClr val="217978"/>
                </a:solidFill>
              </a:defRPr>
            </a:pPr>
            <a:r>
              <a:t>Why this works</a:t>
            </a:r>
          </a:p>
        </p:txBody>
      </p:sp>
      <p:sp>
        <p:nvSpPr>
          <p:cNvPr id="9" name="TextBox 8"/>
          <p:cNvSpPr txBox="1"/>
          <p:nvPr/>
        </p:nvSpPr>
        <p:spPr>
          <a:xfrm>
            <a:off x="987552" y="6126480"/>
            <a:ext cx="10094976" cy="0"/>
          </a:xfrm>
          <a:prstGeom prst="rect">
            <a:avLst/>
          </a:prstGeom>
          <a:noFill/>
        </p:spPr>
        <p:txBody>
          <a:bodyPr wrap="square">
            <a:spAutoFit/>
          </a:bodyPr>
          <a:lstStyle/>
          <a:p>
            <a:pPr>
              <a:defRPr sz="1400">
                <a:solidFill>
                  <a:srgbClr val="232A32"/>
                </a:solidFill>
              </a:defRPr>
            </a:pPr>
            <a:r>
              <a:t>It tests application and analysis rather than simple recall of grammar rules.</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32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Advanced Analysis — Is It Really an Error?</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85800" y="1143000"/>
            <a:ext cx="10789920" cy="4297680"/>
          </a:xfrm>
          <a:prstGeom prst="rect">
            <a:avLst/>
          </a:prstGeom>
          <a:noFill/>
        </p:spPr>
        <p:txBody>
          <a:bodyPr wrap="square">
            <a:spAutoFit/>
          </a:bodyPr>
          <a:lstStyle/>
          <a:p>
            <a:pPr>
              <a:spcAft>
                <a:spcPts val="900"/>
              </a:spcAft>
              <a:defRPr sz="2100" b="0">
                <a:solidFill>
                  <a:srgbClr val="232A32"/>
                </a:solidFill>
              </a:defRPr>
            </a:pPr>
            <a:r>
              <a:t>Not every unusual sentence is automatically incorrect. Context matters.</a:t>
            </a:r>
          </a:p>
          <a:p>
            <a:pPr>
              <a:spcAft>
                <a:spcPts val="900"/>
              </a:spcAft>
              <a:defRPr sz="2100" b="0">
                <a:solidFill>
                  <a:srgbClr val="232A32"/>
                </a:solidFill>
              </a:defRPr>
            </a:pPr>
            <a:r>
              <a:t>Ask whether the issue is grammar, style, register, clarity, redundancy or simply preference.</a:t>
            </a:r>
          </a:p>
          <a:p>
            <a:pPr>
              <a:spcAft>
                <a:spcPts val="900"/>
              </a:spcAft>
              <a:defRPr sz="2100" b="0">
                <a:solidFill>
                  <a:srgbClr val="232A32"/>
                </a:solidFill>
              </a:defRPr>
            </a:pPr>
            <a:r>
              <a:t>Example: “I will contact you tomorrow.” vs “I shall contact you tomorrow.” → grammar is not the main issue; register / usage differs.</a:t>
            </a:r>
          </a:p>
          <a:p>
            <a:pPr>
              <a:spcAft>
                <a:spcPts val="900"/>
              </a:spcAft>
              <a:defRPr sz="2100" b="0">
                <a:solidFill>
                  <a:srgbClr val="232A32"/>
                </a:solidFill>
              </a:defRPr>
            </a:pPr>
            <a:r>
              <a:t>Example: “The meeting was conducted successfully.” → grammatical, but “The team conducted the meeting successfully” may be clearer and more direct.</a:t>
            </a:r>
          </a:p>
          <a:p>
            <a:pPr>
              <a:spcAft>
                <a:spcPts val="900"/>
              </a:spcAft>
              <a:defRPr sz="2100" b="0">
                <a:solidFill>
                  <a:srgbClr val="232A32"/>
                </a:solidFill>
              </a:defRPr>
            </a:pPr>
            <a:r>
              <a:t>Editing is therefore a decision-making process, not just a hunt for mistakes.</a:t>
            </a:r>
          </a:p>
        </p:txBody>
      </p:sp>
      <p:sp>
        <p:nvSpPr>
          <p:cNvPr id="7" name="Rounded Rectangle 6"/>
          <p:cNvSpPr/>
          <p:nvPr/>
        </p:nvSpPr>
        <p:spPr>
          <a:xfrm>
            <a:off x="822960" y="5486400"/>
            <a:ext cx="10424160" cy="713232"/>
          </a:xfrm>
          <a:prstGeom prst="roundRect">
            <a:avLst/>
          </a:prstGeom>
          <a:solidFill>
            <a:srgbClr val="F4F7FA"/>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5596128"/>
            <a:ext cx="10094976" cy="320040"/>
          </a:xfrm>
          <a:prstGeom prst="rect">
            <a:avLst/>
          </a:prstGeom>
          <a:noFill/>
        </p:spPr>
        <p:txBody>
          <a:bodyPr wrap="none">
            <a:spAutoFit/>
          </a:bodyPr>
          <a:lstStyle/>
          <a:p>
            <a:pPr>
              <a:defRPr sz="1600" b="1">
                <a:solidFill>
                  <a:srgbClr val="E0A337"/>
                </a:solidFill>
              </a:defRPr>
            </a:pPr>
            <a:r>
              <a:t>Professional test</a:t>
            </a:r>
          </a:p>
        </p:txBody>
      </p:sp>
      <p:sp>
        <p:nvSpPr>
          <p:cNvPr id="9" name="TextBox 8"/>
          <p:cNvSpPr txBox="1"/>
          <p:nvPr/>
        </p:nvSpPr>
        <p:spPr>
          <a:xfrm>
            <a:off x="987552" y="5989320"/>
            <a:ext cx="10094976" cy="91439"/>
          </a:xfrm>
          <a:prstGeom prst="rect">
            <a:avLst/>
          </a:prstGeom>
          <a:noFill/>
        </p:spPr>
        <p:txBody>
          <a:bodyPr wrap="square">
            <a:spAutoFit/>
          </a:bodyPr>
          <a:lstStyle/>
          <a:p>
            <a:pPr>
              <a:defRPr sz="1400">
                <a:solidFill>
                  <a:srgbClr val="232A32"/>
                </a:solidFill>
              </a:defRPr>
            </a:pPr>
            <a:r>
              <a:t>Would a reasonable reader misunderstand the sentence, find it grammatically unacceptable, or simply prefer a different style?</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33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Advanced Comprehension — Evidence, Assumption, Implication</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Rounded Rectangle 5"/>
          <p:cNvSpPr/>
          <p:nvPr/>
        </p:nvSpPr>
        <p:spPr>
          <a:xfrm>
            <a:off x="640080" y="1005840"/>
            <a:ext cx="10927080" cy="2560320"/>
          </a:xfrm>
          <a:prstGeom prst="roundRect">
            <a:avLst/>
          </a:prstGeom>
          <a:solidFill>
            <a:srgbClr val="FFFFFF"/>
          </a:solidFill>
          <a:ln w="19050">
            <a:solidFill>
              <a:srgbClr val="2A5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1" y="1115568"/>
            <a:ext cx="10597896" cy="320040"/>
          </a:xfrm>
          <a:prstGeom prst="rect">
            <a:avLst/>
          </a:prstGeom>
          <a:noFill/>
        </p:spPr>
        <p:txBody>
          <a:bodyPr wrap="none">
            <a:spAutoFit/>
          </a:bodyPr>
          <a:lstStyle/>
          <a:p>
            <a:pPr>
              <a:defRPr sz="1600" b="1">
                <a:solidFill>
                  <a:srgbClr val="2A5C91"/>
                </a:solidFill>
              </a:defRPr>
            </a:pPr>
            <a:r>
              <a:t>Passage</a:t>
            </a:r>
          </a:p>
        </p:txBody>
      </p:sp>
      <p:sp>
        <p:nvSpPr>
          <p:cNvPr id="8" name="TextBox 7"/>
          <p:cNvSpPr txBox="1"/>
          <p:nvPr/>
        </p:nvSpPr>
        <p:spPr>
          <a:xfrm>
            <a:off x="804671" y="1508760"/>
            <a:ext cx="10597896" cy="1938527"/>
          </a:xfrm>
          <a:prstGeom prst="rect">
            <a:avLst/>
          </a:prstGeom>
          <a:noFill/>
        </p:spPr>
        <p:txBody>
          <a:bodyPr wrap="square">
            <a:spAutoFit/>
          </a:bodyPr>
          <a:lstStyle/>
          <a:p>
            <a:pPr>
              <a:defRPr sz="1400">
                <a:solidFill>
                  <a:srgbClr val="232A32"/>
                </a:solidFill>
              </a:defRPr>
            </a:pPr>
            <a:r>
              <a:t>A company introduced a four-day workweek for one department. After three months, the department reported fewer sick days and higher employee satisfaction. Productivity, however, remained almost unchanged. The management team therefore decided to continue the experiment but did not extend it to every department. Some managers argued that the results were encouraging; others noted that the department had volunteered for the experiment and might not represent the wider workforce.</a:t>
            </a:r>
          </a:p>
        </p:txBody>
      </p:sp>
      <p:sp>
        <p:nvSpPr>
          <p:cNvPr id="9" name="TextBox 8"/>
          <p:cNvSpPr txBox="1"/>
          <p:nvPr/>
        </p:nvSpPr>
        <p:spPr>
          <a:xfrm>
            <a:off x="731520" y="3794760"/>
            <a:ext cx="10607040" cy="2011680"/>
          </a:xfrm>
          <a:prstGeom prst="rect">
            <a:avLst/>
          </a:prstGeom>
          <a:noFill/>
        </p:spPr>
        <p:txBody>
          <a:bodyPr wrap="square">
            <a:spAutoFit/>
          </a:bodyPr>
          <a:lstStyle/>
          <a:p>
            <a:pPr>
              <a:spcAft>
                <a:spcPts val="900"/>
              </a:spcAft>
              <a:defRPr sz="1700" b="0">
                <a:solidFill>
                  <a:srgbClr val="232A32"/>
                </a:solidFill>
              </a:defRPr>
            </a:pPr>
            <a:r>
              <a:t>Q1. What findings are explicitly reported?</a:t>
            </a:r>
          </a:p>
          <a:p>
            <a:pPr>
              <a:spcAft>
                <a:spcPts val="900"/>
              </a:spcAft>
              <a:defRPr sz="1700" b="0">
                <a:solidFill>
                  <a:srgbClr val="232A32"/>
                </a:solidFill>
              </a:defRPr>
            </a:pPr>
            <a:r>
              <a:t>Q2. What is the strongest reason given for NOT extending the policy to every department?</a:t>
            </a:r>
          </a:p>
          <a:p>
            <a:pPr>
              <a:spcAft>
                <a:spcPts val="900"/>
              </a:spcAft>
              <a:defRPr sz="1700" b="0">
                <a:solidFill>
                  <a:srgbClr val="232A32"/>
                </a:solidFill>
              </a:defRPr>
            </a:pPr>
            <a:r>
              <a:t>Q3. What possible limitation of the evidence is identified?</a:t>
            </a:r>
          </a:p>
          <a:p>
            <a:pPr>
              <a:spcAft>
                <a:spcPts val="900"/>
              </a:spcAft>
              <a:defRPr sz="1700" b="0">
                <a:solidFill>
                  <a:srgbClr val="232A32"/>
                </a:solidFill>
              </a:defRPr>
            </a:pPr>
            <a:r>
              <a:t>Q4. Is “the four-day workweek increased productivity” supported? Explain.</a:t>
            </a:r>
          </a:p>
          <a:p>
            <a:pPr>
              <a:spcAft>
                <a:spcPts val="900"/>
              </a:spcAft>
              <a:defRPr sz="1700" b="0">
                <a:solidFill>
                  <a:srgbClr val="232A32"/>
                </a:solidFill>
              </a:defRPr>
            </a:pPr>
            <a:r>
              <a:t>Q5. What would you need to know before applying the finding to another department?</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34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Advanced Comprehension — Answer Key</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85800" y="1143000"/>
            <a:ext cx="10789920" cy="5029200"/>
          </a:xfrm>
          <a:prstGeom prst="rect">
            <a:avLst/>
          </a:prstGeom>
          <a:noFill/>
        </p:spPr>
        <p:txBody>
          <a:bodyPr wrap="square">
            <a:spAutoFit/>
          </a:bodyPr>
          <a:lstStyle/>
          <a:p>
            <a:pPr>
              <a:spcAft>
                <a:spcPts val="900"/>
              </a:spcAft>
              <a:defRPr sz="1900" b="0">
                <a:solidFill>
                  <a:srgbClr val="232A32"/>
                </a:solidFill>
              </a:defRPr>
            </a:pPr>
            <a:r>
              <a:t>Q1: Fewer sick days + higher satisfaction; productivity remained almost unchanged.</a:t>
            </a:r>
          </a:p>
          <a:p>
            <a:pPr>
              <a:spcAft>
                <a:spcPts val="900"/>
              </a:spcAft>
              <a:defRPr sz="1900" b="0">
                <a:solidFill>
                  <a:srgbClr val="232A32"/>
                </a:solidFill>
              </a:defRPr>
            </a:pPr>
            <a:r>
              <a:t>Q2: The participating department volunteered, so it may not represent the wider workforce.</a:t>
            </a:r>
          </a:p>
          <a:p>
            <a:pPr>
              <a:spcAft>
                <a:spcPts val="900"/>
              </a:spcAft>
              <a:defRPr sz="1900" b="0">
                <a:solidFill>
                  <a:srgbClr val="232A32"/>
                </a:solidFill>
              </a:defRPr>
            </a:pPr>
            <a:r>
              <a:t>Q3: Self-selection / limited generalisability is explicitly raised.</a:t>
            </a:r>
          </a:p>
          <a:p>
            <a:pPr>
              <a:spcAft>
                <a:spcPts val="900"/>
              </a:spcAft>
              <a:defRPr sz="1900" b="0">
                <a:solidFill>
                  <a:srgbClr val="232A32"/>
                </a:solidFill>
              </a:defRPr>
            </a:pPr>
            <a:r>
              <a:t>Q4: No. The passage says productivity remained almost unchanged; therefore the claim is unsupported.</a:t>
            </a:r>
          </a:p>
          <a:p>
            <a:pPr>
              <a:spcAft>
                <a:spcPts val="900"/>
              </a:spcAft>
              <a:defRPr sz="1900" b="0">
                <a:solidFill>
                  <a:srgbClr val="232A32"/>
                </a:solidFill>
              </a:defRPr>
            </a:pPr>
            <a:r>
              <a:t>Q5: Relevant context: department type, work demands, baseline productivity, sample characteristics, duration and implementation conditions.</a:t>
            </a:r>
          </a:p>
          <a:p>
            <a:pPr>
              <a:spcAft>
                <a:spcPts val="900"/>
              </a:spcAft>
              <a:defRPr sz="1900" b="0">
                <a:solidFill>
                  <a:srgbClr val="232A32"/>
                </a:solidFill>
              </a:defRPr>
            </a:pPr>
            <a:r>
              <a:t>Teaching distinction: a finding can be true for one context without being automatically generalisable to every context.</a:t>
            </a:r>
          </a:p>
        </p:txBody>
      </p:sp>
      <p:sp>
        <p:nvSpPr>
          <p:cNvPr id="7" name="TextBox 6"/>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35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Exit Ticket — 5 Minutes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777240" y="1234440"/>
            <a:ext cx="10515600" cy="4297680"/>
          </a:xfrm>
          <a:prstGeom prst="rect">
            <a:avLst/>
          </a:prstGeom>
          <a:noFill/>
        </p:spPr>
        <p:txBody>
          <a:bodyPr wrap="square">
            <a:spAutoFit/>
          </a:bodyPr>
          <a:lstStyle/>
          <a:p>
            <a:pPr>
              <a:spcAft>
                <a:spcPts val="900"/>
              </a:spcAft>
              <a:defRPr sz="2100" b="0">
                <a:solidFill>
                  <a:srgbClr val="232A32"/>
                </a:solidFill>
              </a:defRPr>
            </a:pPr>
            <a:r>
              <a:t>1. Define inference in your own words.</a:t>
            </a:r>
          </a:p>
          <a:p>
            <a:pPr>
              <a:spcAft>
                <a:spcPts val="900"/>
              </a:spcAft>
              <a:defRPr sz="2100" b="0">
                <a:solidFill>
                  <a:srgbClr val="232A32"/>
                </a:solidFill>
              </a:defRPr>
            </a:pPr>
            <a:r>
              <a:t>2. Give one difference between application and analysis.</a:t>
            </a:r>
          </a:p>
          <a:p>
            <a:pPr>
              <a:spcAft>
                <a:spcPts val="900"/>
              </a:spcAft>
              <a:defRPr sz="2100" b="0">
                <a:solidFill>
                  <a:srgbClr val="232A32"/>
                </a:solidFill>
              </a:defRPr>
            </a:pPr>
            <a:r>
              <a:t>3. Correct: “The number of students are increasing.”</a:t>
            </a:r>
          </a:p>
          <a:p>
            <a:pPr>
              <a:spcAft>
                <a:spcPts val="900"/>
              </a:spcAft>
              <a:defRPr sz="2100" b="0">
                <a:solidFill>
                  <a:srgbClr val="232A32"/>
                </a:solidFill>
              </a:defRPr>
            </a:pPr>
            <a:r>
              <a:t>4. Correct: “We discussed about the problem yesterday.”</a:t>
            </a:r>
          </a:p>
          <a:p>
            <a:pPr>
              <a:spcAft>
                <a:spcPts val="900"/>
              </a:spcAft>
              <a:defRPr sz="2100" b="0">
                <a:solidFill>
                  <a:srgbClr val="232A32"/>
                </a:solidFill>
              </a:defRPr>
            </a:pPr>
            <a:r>
              <a:t>5. Correct: “Using the software, the report was prepared by Riya.”</a:t>
            </a:r>
          </a:p>
          <a:p>
            <a:pPr>
              <a:spcAft>
                <a:spcPts val="900"/>
              </a:spcAft>
              <a:defRPr sz="2100" b="0">
                <a:solidFill>
                  <a:srgbClr val="232A32"/>
                </a:solidFill>
              </a:defRPr>
            </a:pPr>
            <a:r>
              <a:t>6. Write ONE rule you will use when editing professional English.</a:t>
            </a:r>
          </a:p>
        </p:txBody>
      </p:sp>
      <p:sp>
        <p:nvSpPr>
          <p:cNvPr id="7" name="Rounded Rectangle 6"/>
          <p:cNvSpPr/>
          <p:nvPr/>
        </p:nvSpPr>
        <p:spPr>
          <a:xfrm>
            <a:off x="822960" y="5532120"/>
            <a:ext cx="10424160" cy="658368"/>
          </a:xfrm>
          <a:prstGeom prst="roundRect">
            <a:avLst/>
          </a:prstGeom>
          <a:solidFill>
            <a:srgbClr val="F4F7FA"/>
          </a:solidFill>
          <a:ln w="19050">
            <a:solidFill>
              <a:srgbClr val="2F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5641848"/>
            <a:ext cx="10094976" cy="320040"/>
          </a:xfrm>
          <a:prstGeom prst="rect">
            <a:avLst/>
          </a:prstGeom>
          <a:noFill/>
        </p:spPr>
        <p:txBody>
          <a:bodyPr wrap="none">
            <a:spAutoFit/>
          </a:bodyPr>
          <a:lstStyle/>
          <a:p>
            <a:pPr>
              <a:defRPr sz="1600" b="1">
                <a:solidFill>
                  <a:srgbClr val="2F7D52"/>
                </a:solidFill>
              </a:defRPr>
            </a:pPr>
            <a:r>
              <a:t>Collect / check</a:t>
            </a:r>
          </a:p>
        </p:txBody>
      </p:sp>
      <p:sp>
        <p:nvSpPr>
          <p:cNvPr id="9" name="TextBox 8"/>
          <p:cNvSpPr txBox="1"/>
          <p:nvPr/>
        </p:nvSpPr>
        <p:spPr>
          <a:xfrm>
            <a:off x="987552" y="6035040"/>
            <a:ext cx="10094976" cy="36575"/>
          </a:xfrm>
          <a:prstGeom prst="rect">
            <a:avLst/>
          </a:prstGeom>
          <a:noFill/>
        </p:spPr>
        <p:txBody>
          <a:bodyPr wrap="square">
            <a:spAutoFit/>
          </a:bodyPr>
          <a:lstStyle/>
          <a:p>
            <a:pPr>
              <a:defRPr sz="1400">
                <a:solidFill>
                  <a:srgbClr val="232A32"/>
                </a:solidFill>
              </a:defRPr>
            </a:pPr>
            <a:r>
              <a:t>Use this as a quick formative assessment. Students should answer individually in 5 minutes.</a:t>
            </a:r>
          </a:p>
        </p:txBody>
      </p:sp>
      <p:sp>
        <p:nvSpPr>
          <p:cNvPr id="10" name="TextBox 9"/>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36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Exit Ticket — Suggested Answers</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731520" y="1143000"/>
            <a:ext cx="10607040" cy="4846320"/>
          </a:xfrm>
          <a:prstGeom prst="rect">
            <a:avLst/>
          </a:prstGeom>
          <a:noFill/>
        </p:spPr>
        <p:txBody>
          <a:bodyPr wrap="square">
            <a:spAutoFit/>
          </a:bodyPr>
          <a:lstStyle/>
          <a:p>
            <a:pPr>
              <a:spcAft>
                <a:spcPts val="900"/>
              </a:spcAft>
              <a:defRPr sz="2000" b="0">
                <a:solidFill>
                  <a:srgbClr val="232A32"/>
                </a:solidFill>
              </a:defRPr>
            </a:pPr>
            <a:r>
              <a:t>1. Inference = a conclusion reasonably drawn from evidence in the text, even when not stated word-for-word.</a:t>
            </a:r>
          </a:p>
          <a:p>
            <a:pPr>
              <a:spcAft>
                <a:spcPts val="900"/>
              </a:spcAft>
              <a:defRPr sz="2000" b="0">
                <a:solidFill>
                  <a:srgbClr val="232A32"/>
                </a:solidFill>
              </a:defRPr>
            </a:pPr>
            <a:r>
              <a:t>2. Application transfers an idea to a new situation; analysis examines how / why the text or argument works.</a:t>
            </a:r>
          </a:p>
          <a:p>
            <a:pPr>
              <a:spcAft>
                <a:spcPts val="900"/>
              </a:spcAft>
              <a:defRPr sz="2000" b="0">
                <a:solidFill>
                  <a:srgbClr val="232A32"/>
                </a:solidFill>
              </a:defRPr>
            </a:pPr>
            <a:r>
              <a:t>3. The number of students is increasing.</a:t>
            </a:r>
          </a:p>
          <a:p>
            <a:pPr>
              <a:spcAft>
                <a:spcPts val="900"/>
              </a:spcAft>
              <a:defRPr sz="2000" b="0">
                <a:solidFill>
                  <a:srgbClr val="232A32"/>
                </a:solidFill>
              </a:defRPr>
            </a:pPr>
            <a:r>
              <a:t>4. We discussed the problem yesterday.</a:t>
            </a:r>
          </a:p>
          <a:p>
            <a:pPr>
              <a:spcAft>
                <a:spcPts val="900"/>
              </a:spcAft>
              <a:defRPr sz="2000" b="0">
                <a:solidFill>
                  <a:srgbClr val="232A32"/>
                </a:solidFill>
              </a:defRPr>
            </a:pPr>
            <a:r>
              <a:t>5. Using the software, Riya prepared the report. (Clear modifier attachment.)</a:t>
            </a:r>
          </a:p>
          <a:p>
            <a:pPr>
              <a:spcAft>
                <a:spcPts val="900"/>
              </a:spcAft>
              <a:defRPr sz="2000" b="0">
                <a:solidFill>
                  <a:srgbClr val="232A32"/>
                </a:solidFill>
              </a:defRPr>
            </a:pPr>
            <a:r>
              <a:t>6. Any accurate rule with a valid example is acceptable.</a:t>
            </a:r>
          </a:p>
        </p:txBody>
      </p:sp>
      <p:sp>
        <p:nvSpPr>
          <p:cNvPr id="7" name="TextBox 6"/>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37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Follow-Up Practice / Homework</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85800" y="1097280"/>
            <a:ext cx="10789920" cy="5029200"/>
          </a:xfrm>
          <a:prstGeom prst="rect">
            <a:avLst/>
          </a:prstGeom>
          <a:noFill/>
        </p:spPr>
        <p:txBody>
          <a:bodyPr wrap="square">
            <a:spAutoFit/>
          </a:bodyPr>
          <a:lstStyle/>
          <a:p>
            <a:pPr>
              <a:spcAft>
                <a:spcPts val="900"/>
              </a:spcAft>
              <a:defRPr sz="1900" b="0">
                <a:solidFill>
                  <a:srgbClr val="232A32"/>
                </a:solidFill>
              </a:defRPr>
            </a:pPr>
            <a:r>
              <a:t>Part A — Reading: Find a 250–300 word technology/business article. Write 5 questions: 1 literal, 1 vocabulary-in-context, 1 inference, 1 application, 1 analysis.</a:t>
            </a:r>
          </a:p>
          <a:p>
            <a:pPr>
              <a:spcAft>
                <a:spcPts val="900"/>
              </a:spcAft>
              <a:defRPr sz="1900" b="0">
                <a:solidFill>
                  <a:srgbClr val="232A32"/>
                </a:solidFill>
              </a:defRPr>
            </a:pPr>
            <a:r>
              <a:t>Part B — Evidence: For each answer, quote or identify the sentence/idea that supports it.</a:t>
            </a:r>
          </a:p>
          <a:p>
            <a:pPr>
              <a:spcAft>
                <a:spcPts val="900"/>
              </a:spcAft>
              <a:defRPr sz="1900" b="0">
                <a:solidFill>
                  <a:srgbClr val="232A32"/>
                </a:solidFill>
              </a:defRPr>
            </a:pPr>
            <a:r>
              <a:t>Part C — Remedial English: Collect 10 common professional-English errors from emails, notices or informal writing (without sharing personal information). Correct and classify them.</a:t>
            </a:r>
          </a:p>
          <a:p>
            <a:pPr>
              <a:spcAft>
                <a:spcPts val="900"/>
              </a:spcAft>
              <a:defRPr sz="1900" b="0">
                <a:solidFill>
                  <a:srgbClr val="232A32"/>
                </a:solidFill>
              </a:defRPr>
            </a:pPr>
            <a:r>
              <a:t>Part D — Rewrite: Convert 5 wordy sentences into concise professional English.</a:t>
            </a:r>
          </a:p>
          <a:p>
            <a:pPr>
              <a:spcAft>
                <a:spcPts val="900"/>
              </a:spcAft>
              <a:defRPr sz="1900" b="0">
                <a:solidFill>
                  <a:srgbClr val="232A32"/>
                </a:solidFill>
              </a:defRPr>
            </a:pPr>
            <a:r>
              <a:t>Optional challenge: Create one MCQ where two options look plausible but only one is text-supported.</a:t>
            </a:r>
          </a:p>
        </p:txBody>
      </p:sp>
      <p:sp>
        <p:nvSpPr>
          <p:cNvPr id="7" name="TextBox 6"/>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38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58368"/>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9052560" cy="411480"/>
          </a:xfrm>
          <a:prstGeom prst="rect">
            <a:avLst/>
          </a:prstGeom>
          <a:noFill/>
        </p:spPr>
        <p:txBody>
          <a:bodyPr wrap="none">
            <a:spAutoFit/>
          </a:bodyPr>
          <a:lstStyle/>
          <a:p>
            <a:pPr>
              <a:defRPr sz="2500" b="1">
                <a:solidFill>
                  <a:srgbClr val="FFFFFF"/>
                </a:solidFill>
              </a:defRPr>
            </a:pPr>
            <a:r>
              <a:t>Suggested 60-Minute Delivery Plan</a:t>
            </a:r>
          </a:p>
        </p:txBody>
      </p:sp>
      <p:sp>
        <p:nvSpPr>
          <p:cNvPr id="5" name="TextBox 4"/>
          <p:cNvSpPr txBox="1"/>
          <p:nvPr/>
        </p:nvSpPr>
        <p:spPr>
          <a:xfrm>
            <a:off x="438912" y="6473952"/>
            <a:ext cx="5029200" cy="228600"/>
          </a:xfrm>
          <a:prstGeom prst="rect">
            <a:avLst/>
          </a:prstGeom>
          <a:noFill/>
        </p:spPr>
        <p:txBody>
          <a:bodyPr wrap="none">
            <a:spAutoFit/>
          </a:bodyPr>
          <a:lstStyle/>
          <a:p>
            <a:pPr>
              <a:defRPr sz="900" b="1">
                <a:solidFill>
                  <a:srgbClr val="606974"/>
                </a:solidFill>
              </a:defRPr>
            </a:pPr>
            <a:r>
              <a:t>ADVANCE PROFESSIONAL COMMUNICATION</a:t>
            </a:r>
          </a:p>
        </p:txBody>
      </p:sp>
      <p:sp>
        <p:nvSpPr>
          <p:cNvPr id="6" name="TextBox 5"/>
          <p:cNvSpPr txBox="1"/>
          <p:nvPr/>
        </p:nvSpPr>
        <p:spPr>
          <a:xfrm>
            <a:off x="685800" y="1097280"/>
            <a:ext cx="10789920" cy="5074920"/>
          </a:xfrm>
          <a:prstGeom prst="rect">
            <a:avLst/>
          </a:prstGeom>
          <a:noFill/>
        </p:spPr>
        <p:txBody>
          <a:bodyPr wrap="square">
            <a:spAutoFit/>
          </a:bodyPr>
          <a:lstStyle/>
          <a:p>
            <a:pPr>
              <a:spcAft>
                <a:spcPts val="900"/>
              </a:spcAft>
              <a:defRPr sz="1800" b="0">
                <a:solidFill>
                  <a:srgbClr val="232A32"/>
                </a:solidFill>
              </a:defRPr>
            </a:pPr>
            <a:r>
              <a:t>0–5 min — Hook: “Can a sentence be grammatically correct but professionally poor?” Take 2 responses.</a:t>
            </a:r>
          </a:p>
          <a:p>
            <a:pPr>
              <a:spcAft>
                <a:spcPts val="900"/>
              </a:spcAft>
              <a:defRPr sz="1800" b="0">
                <a:solidFill>
                  <a:srgbClr val="232A32"/>
                </a:solidFill>
              </a:defRPr>
            </a:pPr>
            <a:r>
              <a:t>5–12 min — Explain the 4 reading levels + comprehension algorithm.</a:t>
            </a:r>
          </a:p>
          <a:p>
            <a:pPr>
              <a:spcAft>
                <a:spcPts val="900"/>
              </a:spcAft>
              <a:defRPr sz="1800" b="0">
                <a:solidFill>
                  <a:srgbClr val="232A32"/>
                </a:solidFill>
              </a:defRPr>
            </a:pPr>
            <a:r>
              <a:t>12–22 min — Passage 1: students answer understanding, inference and application questions.</a:t>
            </a:r>
          </a:p>
          <a:p>
            <a:pPr>
              <a:spcAft>
                <a:spcPts val="900"/>
              </a:spcAft>
              <a:defRPr sz="1800" b="0">
                <a:solidFill>
                  <a:srgbClr val="232A32"/>
                </a:solidFill>
              </a:defRPr>
            </a:pPr>
            <a:r>
              <a:t>22–30 min — Discuss answers using evidence; introduce argument analysis.</a:t>
            </a:r>
          </a:p>
          <a:p>
            <a:pPr>
              <a:spcAft>
                <a:spcPts val="900"/>
              </a:spcAft>
              <a:defRPr sz="1800" b="0">
                <a:solidFill>
                  <a:srgbClr val="232A32"/>
                </a:solidFill>
              </a:defRPr>
            </a:pPr>
            <a:r>
              <a:t>30–35 min — Transition to remedial English; teach Identify → Diagnose → Correct → Explain.</a:t>
            </a:r>
          </a:p>
          <a:p>
            <a:pPr>
              <a:spcAft>
                <a:spcPts val="900"/>
              </a:spcAft>
              <a:defRPr sz="1800" b="0">
                <a:solidFill>
                  <a:srgbClr val="232A32"/>
                </a:solidFill>
              </a:defRPr>
            </a:pPr>
            <a:r>
              <a:t>35–47 min — Error Clinic: 8 mixed sentences, individual work.</a:t>
            </a:r>
          </a:p>
          <a:p>
            <a:pPr>
              <a:spcAft>
                <a:spcPts val="900"/>
              </a:spcAft>
              <a:defRPr sz="1800" b="0">
                <a:solidFill>
                  <a:srgbClr val="232A32"/>
                </a:solidFill>
              </a:defRPr>
            </a:pPr>
            <a:r>
              <a:t>47–54 min — Review answer key and ask students to justify two corrections.</a:t>
            </a:r>
          </a:p>
          <a:p>
            <a:pPr>
              <a:spcAft>
                <a:spcPts val="900"/>
              </a:spcAft>
              <a:defRPr sz="1800" b="0">
                <a:solidFill>
                  <a:srgbClr val="232A32"/>
                </a:solidFill>
              </a:defRPr>
            </a:pPr>
            <a:r>
              <a:t>54–60 min — Exit ticket + collect responses.</a:t>
            </a:r>
          </a:p>
        </p:txBody>
      </p:sp>
      <p:sp>
        <p:nvSpPr>
          <p:cNvPr id="7" name="TextBox 6"/>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39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914400"/>
            <a:ext cx="10698480" cy="1097280"/>
          </a:xfrm>
          <a:prstGeom prst="rect">
            <a:avLst/>
          </a:prstGeom>
          <a:noFill/>
        </p:spPr>
        <p:txBody>
          <a:bodyPr wrap="none">
            <a:spAutoFit/>
          </a:bodyPr>
          <a:lstStyle/>
          <a:p>
            <a:pPr>
              <a:defRPr sz="3400" b="1">
                <a:solidFill>
                  <a:srgbClr val="FFFFFF"/>
                </a:solidFill>
              </a:defRPr>
            </a:pPr>
            <a:r>
              <a:t>KEY TAKEAWAY</a:t>
            </a:r>
          </a:p>
        </p:txBody>
      </p:sp>
      <p:sp>
        <p:nvSpPr>
          <p:cNvPr id="4" name="TextBox 3"/>
          <p:cNvSpPr txBox="1"/>
          <p:nvPr/>
        </p:nvSpPr>
        <p:spPr>
          <a:xfrm>
            <a:off x="822960" y="2057400"/>
            <a:ext cx="10241280" cy="2011680"/>
          </a:xfrm>
          <a:prstGeom prst="rect">
            <a:avLst/>
          </a:prstGeom>
          <a:noFill/>
        </p:spPr>
        <p:txBody>
          <a:bodyPr wrap="none">
            <a:spAutoFit/>
          </a:bodyPr>
          <a:lstStyle/>
          <a:p>
            <a:pPr>
              <a:spcAft>
                <a:spcPts val="1800"/>
              </a:spcAft>
              <a:defRPr sz="2700" b="1">
                <a:solidFill>
                  <a:srgbClr val="E6F0F8"/>
                </a:solidFill>
              </a:defRPr>
            </a:pPr>
            <a:r>
              <a:t>READ → FIND EVIDENCE → INFER → APPLY → ANALYSE</a:t>
            </a:r>
          </a:p>
          <a:p>
            <a:pPr>
              <a:spcAft>
                <a:spcPts val="1800"/>
              </a:spcAft>
              <a:defRPr sz="2700" b="1">
                <a:solidFill>
                  <a:srgbClr val="E6F0F8"/>
                </a:solidFill>
              </a:defRPr>
            </a:pPr>
            <a:r>
              <a:t>EDIT → IDENTIFY → DIAGNOSE → CORRECT → JUSTIFY</a:t>
            </a:r>
          </a:p>
        </p:txBody>
      </p:sp>
      <p:sp>
        <p:nvSpPr>
          <p:cNvPr id="5" name="Rounded Rectangle 4"/>
          <p:cNvSpPr/>
          <p:nvPr/>
        </p:nvSpPr>
        <p:spPr>
          <a:xfrm>
            <a:off x="822960" y="4663440"/>
            <a:ext cx="10424160" cy="1097280"/>
          </a:xfrm>
          <a:prstGeom prst="roundRect">
            <a:avLst/>
          </a:prstGeom>
          <a:solidFill>
            <a:srgbClr val="1B304C"/>
          </a:solidFill>
          <a:ln w="19050">
            <a:solidFill>
              <a:srgbClr val="E0A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7552" y="4773168"/>
            <a:ext cx="10094976" cy="320040"/>
          </a:xfrm>
          <a:prstGeom prst="rect">
            <a:avLst/>
          </a:prstGeom>
          <a:noFill/>
        </p:spPr>
        <p:txBody>
          <a:bodyPr wrap="none">
            <a:spAutoFit/>
          </a:bodyPr>
          <a:lstStyle/>
          <a:p>
            <a:pPr>
              <a:defRPr sz="1600" b="1">
                <a:solidFill>
                  <a:srgbClr val="E0A337"/>
                </a:solidFill>
              </a:defRPr>
            </a:pPr>
            <a:r>
              <a:t>For professional communication</a:t>
            </a:r>
          </a:p>
        </p:txBody>
      </p:sp>
      <p:sp>
        <p:nvSpPr>
          <p:cNvPr id="7" name="TextBox 6"/>
          <p:cNvSpPr txBox="1"/>
          <p:nvPr/>
        </p:nvSpPr>
        <p:spPr>
          <a:xfrm>
            <a:off x="987552" y="5166359"/>
            <a:ext cx="10094976" cy="475487"/>
          </a:xfrm>
          <a:prstGeom prst="rect">
            <a:avLst/>
          </a:prstGeom>
          <a:noFill/>
        </p:spPr>
        <p:txBody>
          <a:bodyPr wrap="square">
            <a:spAutoFit/>
          </a:bodyPr>
          <a:lstStyle/>
          <a:p>
            <a:pPr>
              <a:defRPr sz="1400">
                <a:solidFill>
                  <a:srgbClr val="232A32"/>
                </a:solidFill>
              </a:defRPr>
            </a:pPr>
            <a:r>
              <a:t>Good English is not merely error-free English. It is English that is accurate, clear, purposeful and appropriate for the reader.</a:t>
            </a:r>
          </a:p>
        </p:txBody>
      </p:sp>
      <p:sp>
        <p:nvSpPr>
          <p:cNvPr id="8" name="TextBox 7"/>
          <p:cNvSpPr txBox="1"/>
          <p:nvPr/>
        </p:nvSpPr>
        <p:spPr>
          <a:xfrm>
            <a:off x="10881360" y="6437376"/>
            <a:ext cx="731520" cy="228600"/>
          </a:xfrm>
          <a:prstGeom prst="rect">
            <a:avLst/>
          </a:prstGeom>
          <a:noFill/>
        </p:spPr>
        <p:txBody>
          <a:bodyPr wrap="none">
            <a:spAutoFit/>
          </a:bodyPr>
          <a:lstStyle/>
          <a:p>
            <a:pPr algn="r">
              <a:defRPr sz="900">
                <a:solidFill>
                  <a:srgbClr val="606974"/>
                </a:solidFill>
              </a:defRPr>
            </a:pPr>
            <a:r>
              <a:t>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TotalTime>
  <Words>3970</Words>
  <Application>Microsoft Office PowerPoint</Application>
  <PresentationFormat>Widescreen</PresentationFormat>
  <Paragraphs>360</Paragraphs>
  <Slides>39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Shweta Verma</dc:creator>
  <cp:keywords/>
  <dc:description>generated using python-pptx</dc:description>
  <cp:lastModifiedBy>Shweta Verma</cp:lastModifiedBy>
  <cp:revision>4</cp:revision>
  <dcterms:created xsi:type="dcterms:W3CDTF">2013-01-27T09:14:16Z</dcterms:created>
  <dcterms:modified xsi:type="dcterms:W3CDTF">2026-09-22T06:23:52Z</dcterms:modified>
  <cp:category/>
</cp:coreProperties>
</file>