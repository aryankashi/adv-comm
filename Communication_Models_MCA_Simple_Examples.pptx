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  <p:sldId id="277" r:id="rId24"/>
    <p:sldId id="278" r:id="rId25"/>
    <p:sldId id="290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Roboto Mono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80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9b0633f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9b0633f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9b0633fe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9b0633fe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9b0633fe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9b0633fe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b0633fe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b0633fe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9b0633fe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9b0633fe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9b0633fea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9b0633fea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9b0633fe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9b0633fe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b0633fe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b0633fe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9b0633fe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9b0633fe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b0633fea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b0633fea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9b0633fea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9b0633fea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9b0633fe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9b0633fe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9b0633fea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9b0633fea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9b0633fe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9b0633fe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9b0633fe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9b0633fe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b0633fe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9b0633fe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b0633fe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9b0633fe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9b0633fea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9b0633fea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9b0633fea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9b0633fea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9b0633fe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9b0633fe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9b0633fea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9b0633fea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9b0633fea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9b0633fea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9b0633fea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9b0633fea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9b0633fea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9b0633fea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9b0633fea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9b0633fea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9b0633fe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9b0633fe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9b0633fea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9b0633fea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9b0633fea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9b0633fea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9b0633fea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9b0633fea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55bfa9f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55bfa9f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55bfa9fd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55bfa9fd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5bfa9fd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55bfa9fd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/>
              <a:t>Communication in Social Psychology: Concepts, Processes &amp; Applications</a:t>
            </a:r>
            <a:endParaRPr sz="32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3200" b="1"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272025" y="1668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Verbal/Non-Verbal Communication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&amp; Social Interaction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Barriers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Interpersonal Attraction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in Social Psychology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uman behaviour is shaped through </a:t>
            </a:r>
            <a:r>
              <a:rPr lang="en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isolation.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social influence, persuasion, relationships, conflicts → begin through communication.Understanding communication helps 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Counselling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Workplace relationships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Conflict resolution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❖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Mental health campaigns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Model (Shannon &amp; Weaver)</a:t>
            </a:r>
            <a:b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814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One-way, sender → receiver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81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“noise”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814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in mass messages (emergency alerts)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latin typeface="Calibri"/>
                <a:ea typeface="Calibri"/>
                <a:cs typeface="Calibri"/>
                <a:sym typeface="Calibri"/>
              </a:rPr>
              <a:t>Linear Model (Shannon &amp; Weaver)</a:t>
            </a:r>
            <a:br>
              <a:rPr lang="en" sz="2400" b="1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in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1949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Shannon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Warren Weaver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Originally developed for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telephone and telegraph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➝ later applied to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explain how messages travel from a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to a receiver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how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disrupts the process.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First scientific, engineering-based communication model.Introduced the concept of </a:t>
            </a:r>
            <a:r>
              <a:rPr lang="en" sz="2000" b="1">
                <a:solidFill>
                  <a:schemeClr val="dk1"/>
                </a:solidFill>
              </a:rPr>
              <a:t>noise</a:t>
            </a:r>
            <a:r>
              <a:rPr lang="en" sz="2000">
                <a:solidFill>
                  <a:schemeClr val="dk1"/>
                </a:solidFill>
              </a:rPr>
              <a:t>, which is essential in social psychology, organizational communication, and interpersonal communication.</a:t>
            </a:r>
            <a:endParaRPr sz="2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Source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originator of the message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project manager deciding to explain a change in the project deadline.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Transmitter (Encoder)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message into signals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The manager converts the idea into spoken words: “The client has moved the deadline to Friday.”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b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medium through which the signal travels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Face-to-face meeting, Teams/Zoom, email, WhatsApp, or phone call.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(Decoder)</a:t>
            </a:r>
            <a:endParaRPr sz="9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Converts signals back into a message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The developer reads the manager’s message and understands what needs to be done.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sz="9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target of the message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The developer understands the task and is ready to act on it.</a:t>
            </a:r>
            <a:br>
              <a:rPr lang="en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Components of the Shannon &amp; Weaver Model</a:t>
            </a:r>
            <a:endParaRPr b="1"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b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Anything that distorts the message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Types: Physical, Physiological, Semantic, Psychological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Example: Poor internet in a Teams meeting, unclear technical jargon, stress, or distractions.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lang="en" sz="3550">
                <a:latin typeface="Calibri"/>
                <a:ea typeface="Calibri"/>
                <a:cs typeface="Calibri"/>
                <a:sym typeface="Calibri"/>
              </a:rPr>
              <a:t>Linear flow chart:</a:t>
            </a:r>
            <a:endParaRPr sz="355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I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nformation Source → Encoder → Channel → Decoder → Destination</a:t>
            </a:r>
            <a:b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↑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Noise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(This is a classic linear model—one-way direction.)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lang="en" sz="3550">
                <a:latin typeface="Calibri"/>
                <a:ea typeface="Calibri"/>
                <a:cs typeface="Calibri"/>
                <a:sym typeface="Calibri"/>
              </a:rPr>
              <a:t>Linear flow chart:</a:t>
            </a:r>
            <a:endParaRPr sz="355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 of Flow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flows in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direction only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not part of the original model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though later versions include it.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Perfect for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mass communication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messages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 any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one-way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communication.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</a:t>
            </a:r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understand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Introduced quantification of communication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Emphasised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noise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—crucial for social psychology and media studies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TV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messaging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announcements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etc.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</a:t>
            </a:r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One-way communication:</a:t>
            </a:r>
            <a:r>
              <a:rPr lang="en" sz="2400">
                <a:solidFill>
                  <a:schemeClr val="dk1"/>
                </a:solidFill>
              </a:rPr>
              <a:t> No feedback; cannot capture interaction.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Ignores psychological factors:</a:t>
            </a:r>
            <a:r>
              <a:rPr lang="en" sz="2400">
                <a:solidFill>
                  <a:schemeClr val="dk1"/>
                </a:solidFill>
              </a:rPr>
              <a:t> Emotions, stress, attention affect decoding.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Ignores social context:</a:t>
            </a:r>
            <a:r>
              <a:rPr lang="en" sz="2400">
                <a:solidFill>
                  <a:schemeClr val="dk1"/>
                </a:solidFill>
              </a:rPr>
              <a:t> Power, norms, and group pressures influence communication.</a:t>
            </a:r>
            <a:br>
              <a:rPr lang="en" sz="2400">
                <a:solidFill>
                  <a:schemeClr val="dk1"/>
                </a:solidFill>
              </a:rPr>
            </a:br>
            <a:r>
              <a:rPr lang="en" sz="2400" b="1">
                <a:solidFill>
                  <a:schemeClr val="dk1"/>
                </a:solidFill>
              </a:rPr>
              <a:t>Cannot handle deception:</a:t>
            </a:r>
            <a:r>
              <a:rPr lang="en" sz="2400">
                <a:solidFill>
                  <a:schemeClr val="dk1"/>
                </a:solidFill>
              </a:rPr>
              <a:t> Assumes sender is always honest.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Ignores non-verbal cues:</a:t>
            </a:r>
            <a:r>
              <a:rPr lang="en" sz="2400">
                <a:solidFill>
                  <a:schemeClr val="dk1"/>
                </a:solidFill>
              </a:rPr>
              <a:t> Tone, gestures, and expressions are critical for meaning.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No group or cultural perspective:</a:t>
            </a:r>
            <a:r>
              <a:rPr lang="en" sz="2400">
                <a:solidFill>
                  <a:schemeClr val="dk1"/>
                </a:solidFill>
              </a:rPr>
              <a:t> Overlooks social identity and cultural differences.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Over-simplified:</a:t>
            </a:r>
            <a:r>
              <a:rPr lang="en" sz="2400">
                <a:solidFill>
                  <a:schemeClr val="dk1"/>
                </a:solidFill>
              </a:rPr>
              <a:t> Treats communication as signal transmission, not a dynamic process.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Communication Models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</a:rPr>
              <a:t>Interactive Model (Schramm)</a:t>
            </a:r>
            <a:br>
              <a:rPr lang="en" sz="2400" b="1">
                <a:solidFill>
                  <a:schemeClr val="dk1"/>
                </a:solidFill>
              </a:rPr>
            </a:br>
            <a:endParaRPr sz="2400" b="1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Two-way exchange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2400">
                <a:solidFill>
                  <a:schemeClr val="dk1"/>
                </a:solidFill>
              </a:rPr>
              <a:t>Feedback, “fields of experience”</a:t>
            </a:r>
            <a:br>
              <a:rPr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body" idx="1"/>
          </p:nvPr>
        </p:nvSpPr>
        <p:spPr>
          <a:xfrm>
            <a:off x="223150" y="4796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by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Wilbur Schramm (1954)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known as the </a:t>
            </a:r>
            <a:r>
              <a:rPr lang="en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“Father of Communication Studies.”</a:t>
            </a:r>
            <a:br>
              <a:rPr lang="en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model to show communication as a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two-way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reciprocal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Shannon–Weaver’s </a:t>
            </a:r>
            <a:r>
              <a:rPr lang="en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model, Schramm emphasized that communication involves: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meaning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interaction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81000"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dirty="0"/>
              <a:t>Communication is a two-way process in which people exchange messages, interpret them, and develop a shared understanding.</a:t>
            </a:r>
          </a:p>
          <a:p>
            <a:pPr lvl="0" indent="-381000"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Schramm’s model matches this by focusing on how </a:t>
            </a:r>
            <a:r>
              <a:rPr lang="e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co-create meaning</a:t>
            </a:r>
            <a:r>
              <a:rPr lang="e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through back-and-forth exchanges.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/>
              <a:t>Core Components of Schramm’s Model</a:t>
            </a:r>
            <a:endParaRPr sz="32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Four key ideas: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 Encoder–Interpreter–Decoder (E–I–D)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 Feedback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Field of Experience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</a:rPr>
              <a:t>Message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</a:rPr>
              <a:t> Encoder–Interpreter–Decoder (E–I–D)</a:t>
            </a:r>
            <a:endParaRPr sz="3200" b="1">
              <a:solidFill>
                <a:schemeClr val="dk1"/>
              </a:solidFill>
            </a:endParaRPr>
          </a:p>
          <a:p>
            <a:pPr marL="457200" lvl="0" indent="-3860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Each person </a:t>
            </a:r>
            <a:r>
              <a:rPr lang="en" sz="3200" b="1">
                <a:solidFill>
                  <a:schemeClr val="dk1"/>
                </a:solidFill>
              </a:rPr>
              <a:t>encodes</a:t>
            </a:r>
            <a:r>
              <a:rPr lang="en" sz="3200">
                <a:solidFill>
                  <a:schemeClr val="dk1"/>
                </a:solidFill>
              </a:rPr>
              <a:t> a message, </a:t>
            </a:r>
            <a:r>
              <a:rPr lang="en" sz="3200" b="1">
                <a:solidFill>
                  <a:schemeClr val="dk1"/>
                </a:solidFill>
              </a:rPr>
              <a:t>interprets</a:t>
            </a:r>
            <a:r>
              <a:rPr lang="en" sz="3200">
                <a:solidFill>
                  <a:schemeClr val="dk1"/>
                </a:solidFill>
              </a:rPr>
              <a:t> the message, and </a:t>
            </a:r>
            <a:r>
              <a:rPr lang="en" sz="3200" b="1">
                <a:solidFill>
                  <a:schemeClr val="dk1"/>
                </a:solidFill>
              </a:rPr>
              <a:t>decodes</a:t>
            </a:r>
            <a:r>
              <a:rPr lang="en" sz="3200">
                <a:solidFill>
                  <a:schemeClr val="dk1"/>
                </a:solidFill>
              </a:rPr>
              <a:t> incoming messages.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marL="457200" lvl="0" indent="-3860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Communication is effective only when interpretation matches intent.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 b="1">
                <a:solidFill>
                  <a:schemeClr val="dk1"/>
                </a:solidFill>
              </a:rPr>
              <a:t>Feedback</a:t>
            </a:r>
            <a:endParaRPr sz="3200" b="1">
              <a:solidFill>
                <a:schemeClr val="dk1"/>
              </a:solidFill>
            </a:endParaRPr>
          </a:p>
          <a:p>
            <a:pPr marL="457200" lvl="0" indent="-3860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The receiver’s response becomes a new message → </a:t>
            </a:r>
            <a:r>
              <a:rPr lang="en" sz="3200" b="1">
                <a:solidFill>
                  <a:schemeClr val="dk1"/>
                </a:solidFill>
              </a:rPr>
              <a:t>communication becomes a cycle</a:t>
            </a:r>
            <a:r>
              <a:rPr lang="en" sz="3200">
                <a:solidFill>
                  <a:schemeClr val="dk1"/>
                </a:solidFill>
              </a:rPr>
              <a:t>, not a one-time act.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marL="457200" lvl="0" indent="-3860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3200">
                <a:solidFill>
                  <a:schemeClr val="dk1"/>
                </a:solidFill>
              </a:rPr>
              <a:t>Makes the model </a:t>
            </a:r>
            <a:r>
              <a:rPr lang="en" sz="3200" b="1">
                <a:solidFill>
                  <a:schemeClr val="dk1"/>
                </a:solidFill>
              </a:rPr>
              <a:t>interactive</a:t>
            </a:r>
            <a:r>
              <a:rPr lang="en" sz="3200">
                <a:solidFill>
                  <a:schemeClr val="dk1"/>
                </a:solidFill>
              </a:rPr>
              <a:t>, more human-like.</a:t>
            </a:r>
            <a:br>
              <a:rPr lang="en" sz="3200">
                <a:solidFill>
                  <a:schemeClr val="dk1"/>
                </a:solidFill>
              </a:rPr>
            </a:b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body" idx="1"/>
          </p:nvPr>
        </p:nvSpPr>
        <p:spPr>
          <a:xfrm>
            <a:off x="311700" y="398375"/>
            <a:ext cx="8520600" cy="41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 dirty="0">
                <a:solidFill>
                  <a:schemeClr val="dk1"/>
                </a:solidFill>
              </a:rPr>
              <a:t>Field of Experience</a:t>
            </a:r>
            <a:endParaRPr sz="2400" b="1" dirty="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The overlap of cultural background, language, beliefs, values, and experiences.</a:t>
            </a:r>
            <a:br>
              <a:rPr lang="en" sz="2400" dirty="0">
                <a:solidFill>
                  <a:schemeClr val="dk1"/>
                </a:solidFill>
              </a:rPr>
            </a:br>
            <a:endParaRPr sz="2400" dirty="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If the overlap is small → misunderstanding.</a:t>
            </a:r>
            <a:br>
              <a:rPr lang="en" sz="2400" dirty="0">
                <a:solidFill>
                  <a:schemeClr val="dk1"/>
                </a:solidFill>
              </a:rPr>
            </a:b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 dirty="0">
                <a:solidFill>
                  <a:schemeClr val="dk1"/>
                </a:solidFill>
              </a:rPr>
              <a:t>Message</a:t>
            </a:r>
            <a:endParaRPr sz="2400" b="1" dirty="0">
              <a:solidFill>
                <a:schemeClr val="dk1"/>
              </a:solidFill>
            </a:endParaRPr>
          </a:p>
          <a:p>
            <a:pPr marL="457200" lvl="0" indent="-36957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 dirty="0">
                <a:solidFill>
                  <a:schemeClr val="dk1"/>
                </a:solidFill>
              </a:rPr>
              <a:t>The symbolic construction (verbal or non-verbal) exchanged between two people.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37252-39B9-43D8-AD79-4E6FD420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9C4B4C-A035-4708-B348-993513AE3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122011"/>
            <a:ext cx="867737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MCA Student: “I need to debug my code.”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Parent: “What happened? Is there something wrong with the computer?”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student and parent have different technical experiences.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don't just hear a message; we interpret it through what we already know.</a:t>
            </a:r>
          </a:p>
        </p:txBody>
      </p:sp>
    </p:spTree>
    <p:extLst>
      <p:ext uri="{BB962C8B-B14F-4D97-AF65-F5344CB8AC3E}">
        <p14:creationId xmlns:p14="http://schemas.microsoft.com/office/powerpoint/2010/main" val="3011111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Schramm’s Interactive Loop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Encoder → Message → Decoder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↑                   ↓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Interpreter ← Feedback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Key Message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Meaning is not transferred; </a:t>
            </a:r>
            <a:r>
              <a:rPr lang="en" sz="1100" b="1">
                <a:solidFill>
                  <a:schemeClr val="dk1"/>
                </a:solidFill>
              </a:rPr>
              <a:t>meaning is negotiated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Communication improves when </a:t>
            </a:r>
            <a:r>
              <a:rPr lang="en" sz="1100" b="1">
                <a:solidFill>
                  <a:schemeClr val="dk1"/>
                </a:solidFill>
              </a:rPr>
              <a:t>shared field of experience increases</a:t>
            </a:r>
            <a:r>
              <a:rPr lang="en" sz="1100">
                <a:solidFill>
                  <a:schemeClr val="dk1"/>
                </a:solidFill>
              </a:rPr>
              <a:t> (e.g., shared culture, shared language).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Explains why:</a:t>
            </a:r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Client–developer communication may fail when they have very different technical and business backgrounds.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Two developers may communicate easily because they share technical knowledge and workplace experience.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Cultural stereotypes distort interpretation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dirty="0">
                <a:solidFill>
                  <a:schemeClr val="dk1"/>
                </a:solidFill>
              </a:rPr>
              <a:t>Miscommunication arises from schemas, attitudes, expectations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1948-5F5B-426F-9046-4AB5F83D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Technical and Business Perspectives Differ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C9AAD-0C43-44D5-8198-81523C102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Developer </a:t>
            </a:r>
            <a:r>
              <a:rPr lang="en-US" dirty="0" err="1">
                <a:solidFill>
                  <a:schemeClr val="tx1"/>
                </a:solidFill>
              </a:rPr>
              <a:t>says:“The</a:t>
            </a:r>
            <a:r>
              <a:rPr lang="en-US" dirty="0">
                <a:solidFill>
                  <a:schemeClr val="tx1"/>
                </a:solidFill>
              </a:rPr>
              <a:t> application needs to be scalable.</a:t>
            </a:r>
          </a:p>
          <a:p>
            <a:r>
              <a:rPr lang="en-US" dirty="0">
                <a:solidFill>
                  <a:schemeClr val="tx1"/>
                </a:solidFill>
              </a:rPr>
              <a:t>”Client </a:t>
            </a:r>
            <a:r>
              <a:rPr lang="en-US" dirty="0" err="1">
                <a:solidFill>
                  <a:schemeClr val="tx1"/>
                </a:solidFill>
              </a:rPr>
              <a:t>thinks:“Will</a:t>
            </a:r>
            <a:r>
              <a:rPr lang="en-US" dirty="0">
                <a:solidFill>
                  <a:schemeClr val="tx1"/>
                </a:solidFill>
              </a:rPr>
              <a:t> it work when many customers use it at the same time?”</a:t>
            </a:r>
          </a:p>
          <a:p>
            <a:r>
              <a:rPr lang="en-US" dirty="0">
                <a:solidFill>
                  <a:schemeClr val="tx1"/>
                </a:solidFill>
              </a:rPr>
              <a:t>Why can communication fail?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Developer focuses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Technology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System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Technical solutions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Client focuses on: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Customers</a:t>
            </a:r>
          </a:p>
          <a:p>
            <a:pPr marL="114300" indent="0">
              <a:buNone/>
            </a:pPr>
            <a:r>
              <a:rPr lang="en-US" dirty="0" err="1">
                <a:solidFill>
                  <a:schemeClr val="tx1"/>
                </a:solidFill>
              </a:rPr>
              <a:t>CostBusiness</a:t>
            </a:r>
            <a:r>
              <a:rPr lang="en-US" dirty="0">
                <a:solidFill>
                  <a:schemeClr val="tx1"/>
                </a:solidFill>
              </a:rPr>
              <a:t> goals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User </a:t>
            </a:r>
            <a:r>
              <a:rPr lang="en-US" dirty="0" err="1">
                <a:solidFill>
                  <a:schemeClr val="tx1"/>
                </a:solidFill>
              </a:rPr>
              <a:t>experienceBetter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communication:Instead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of:“The</a:t>
            </a:r>
            <a:r>
              <a:rPr lang="en-US" dirty="0">
                <a:solidFill>
                  <a:schemeClr val="tx1"/>
                </a:solidFill>
              </a:rPr>
              <a:t> architecture is scalable.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”</a:t>
            </a:r>
            <a:r>
              <a:rPr lang="en-US" dirty="0" err="1">
                <a:solidFill>
                  <a:schemeClr val="tx1"/>
                </a:solidFill>
              </a:rPr>
              <a:t>Say:“We</a:t>
            </a:r>
            <a:r>
              <a:rPr lang="en-US" dirty="0">
                <a:solidFill>
                  <a:schemeClr val="tx1"/>
                </a:solidFill>
              </a:rPr>
              <a:t> can design the application to handle a much larger number of users without major performance </a:t>
            </a:r>
            <a:r>
              <a:rPr lang="en-US" dirty="0" err="1">
                <a:solidFill>
                  <a:schemeClr val="tx1"/>
                </a:solidFill>
              </a:rPr>
              <a:t>problems.”Key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point:Different</a:t>
            </a:r>
            <a:r>
              <a:rPr lang="en-US" dirty="0">
                <a:solidFill>
                  <a:schemeClr val="tx1"/>
                </a:solidFill>
              </a:rPr>
              <a:t> fields of experience require more explanation and less jargon.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614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0986"/>
              <a:buFont typeface="Arial"/>
              <a:buNone/>
            </a:pPr>
            <a:r>
              <a:rPr lang="en" sz="3550" b="1"/>
              <a:t>Strengths</a:t>
            </a:r>
            <a:endParaRPr sz="355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300" b="1"/>
          </a:p>
        </p:txBody>
      </p:sp>
      <p:sp>
        <p:nvSpPr>
          <p:cNvPr id="187" name="Google Shape;18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Introduces </a:t>
            </a:r>
            <a:r>
              <a:rPr lang="en" sz="2400" b="1">
                <a:solidFill>
                  <a:schemeClr val="dk1"/>
                </a:solidFill>
              </a:rPr>
              <a:t>feedback</a:t>
            </a:r>
            <a:r>
              <a:rPr lang="en" sz="2400">
                <a:solidFill>
                  <a:schemeClr val="dk1"/>
                </a:solidFill>
              </a:rPr>
              <a:t> — essential in interpersonal communication.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Emphasizes </a:t>
            </a:r>
            <a:r>
              <a:rPr lang="en" sz="2400" b="1">
                <a:solidFill>
                  <a:schemeClr val="dk1"/>
                </a:solidFill>
              </a:rPr>
              <a:t>shared meaning</a:t>
            </a:r>
            <a:r>
              <a:rPr lang="en" sz="2400">
                <a:solidFill>
                  <a:schemeClr val="dk1"/>
                </a:solidFill>
              </a:rPr>
              <a:t>, not just message transfer.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Explains communication breakdown using </a:t>
            </a:r>
            <a:r>
              <a:rPr lang="en" sz="2400" b="1">
                <a:solidFill>
                  <a:schemeClr val="dk1"/>
                </a:solidFill>
              </a:rPr>
              <a:t>field of experience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Better for </a:t>
            </a:r>
            <a:r>
              <a:rPr lang="en" sz="2400" b="1">
                <a:solidFill>
                  <a:schemeClr val="dk1"/>
                </a:solidFill>
              </a:rPr>
              <a:t>interpersonal, face-to-face, teaching, team meetings and workplace discussions, conflict resolution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/>
              <a:t>Limitations</a:t>
            </a:r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Assumes communication is always balanced &amp; reciprocal (not true in power hierarchies).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A junior employee may not question a manager even when the instruction is unclear.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</a:rPr>
              <a:t>Does not fully account for: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deception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emotional arousal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prejudice-based interpretation</a:t>
            </a:r>
            <a:br>
              <a:rPr lang="en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group-level processes (norms, conformity)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Deception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manipulation of messages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(impression-management, self-presentation).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Intentional distortion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encoding.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</a:t>
            </a:r>
            <a:r>
              <a:rPr lang="e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ambiguous non-verbal cues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mislead.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en" sz="1700" b="1"/>
              <a:t>Emotional Arousal (Not fully accounted for)</a:t>
            </a:r>
            <a:endParaRPr sz="170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1700" b="1"/>
          </a:p>
        </p:txBody>
      </p:sp>
      <p:sp>
        <p:nvSpPr>
          <p:cNvPr id="205" name="Google Shape;205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Social psychology demonstrates that emotional arousal affects:</a:t>
            </a:r>
            <a:endParaRPr sz="2800">
              <a:solidFill>
                <a:schemeClr val="dk1"/>
              </a:solidFill>
            </a:endParaRPr>
          </a:p>
          <a:p>
            <a:pPr marL="457200" lvl="0" indent="-33972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 b="1">
                <a:solidFill>
                  <a:schemeClr val="dk1"/>
                </a:solidFill>
              </a:rPr>
              <a:t>Encoding</a:t>
            </a:r>
            <a:r>
              <a:rPr lang="en" sz="2800">
                <a:solidFill>
                  <a:schemeClr val="dk1"/>
                </a:solidFill>
              </a:rPr>
              <a:t> (e.g., anger → harsh tone)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 b="1">
                <a:solidFill>
                  <a:schemeClr val="dk1"/>
                </a:solidFill>
              </a:rPr>
              <a:t>Decoding</a:t>
            </a:r>
            <a:r>
              <a:rPr lang="en" sz="2800">
                <a:solidFill>
                  <a:schemeClr val="dk1"/>
                </a:solidFill>
              </a:rPr>
              <a:t> (stress → misinterpretation)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 b="1">
                <a:solidFill>
                  <a:schemeClr val="dk1"/>
                </a:solidFill>
              </a:rPr>
              <a:t>Feedback quality</a:t>
            </a:r>
            <a:br>
              <a:rPr lang="en" sz="2800" b="1">
                <a:solidFill>
                  <a:schemeClr val="dk1"/>
                </a:solidFill>
              </a:rPr>
            </a:br>
            <a:endParaRPr sz="2800" b="1">
              <a:solidFill>
                <a:schemeClr val="dk1"/>
              </a:solidFill>
            </a:endParaRPr>
          </a:p>
          <a:p>
            <a:pPr marL="457200" lvl="0" indent="-339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 b="1">
                <a:solidFill>
                  <a:schemeClr val="dk1"/>
                </a:solidFill>
              </a:rPr>
              <a:t>Attention and memory</a:t>
            </a:r>
            <a:br>
              <a:rPr lang="en" sz="2800" b="1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But Schramm’s model:</a:t>
            </a:r>
            <a:endParaRPr sz="2800">
              <a:solidFill>
                <a:schemeClr val="dk1"/>
              </a:solidFill>
            </a:endParaRPr>
          </a:p>
          <a:p>
            <a:pPr marL="457200" lvl="0" indent="-37973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Treats encoding/decoding as </a:t>
            </a:r>
            <a:r>
              <a:rPr lang="en" sz="2800" b="1">
                <a:solidFill>
                  <a:schemeClr val="dk1"/>
                </a:solidFill>
              </a:rPr>
              <a:t>stable and rational</a:t>
            </a:r>
            <a:r>
              <a:rPr lang="en" sz="2800">
                <a:solidFill>
                  <a:schemeClr val="dk1"/>
                </a:solidFill>
              </a:rPr>
              <a:t>.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3797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Ignores the impact of emotions on </a:t>
            </a:r>
            <a:r>
              <a:rPr lang="en" sz="2800" b="1">
                <a:solidFill>
                  <a:schemeClr val="dk1"/>
                </a:solidFill>
              </a:rPr>
              <a:t>perception</a:t>
            </a:r>
            <a:r>
              <a:rPr lang="en" sz="2800">
                <a:solidFill>
                  <a:schemeClr val="dk1"/>
                </a:solidFill>
              </a:rPr>
              <a:t>, </a:t>
            </a:r>
            <a:r>
              <a:rPr lang="en" sz="2800" b="1">
                <a:solidFill>
                  <a:schemeClr val="dk1"/>
                </a:solidFill>
              </a:rPr>
              <a:t>tone</a:t>
            </a:r>
            <a:r>
              <a:rPr lang="en" sz="2800">
                <a:solidFill>
                  <a:schemeClr val="dk1"/>
                </a:solidFill>
              </a:rPr>
              <a:t>, and </a:t>
            </a:r>
            <a:r>
              <a:rPr lang="en" sz="2800" b="1">
                <a:solidFill>
                  <a:schemeClr val="dk1"/>
                </a:solidFill>
              </a:rPr>
              <a:t>interpretation</a:t>
            </a:r>
            <a:r>
              <a:rPr lang="en" sz="2800">
                <a:solidFill>
                  <a:schemeClr val="dk1"/>
                </a:solidFill>
              </a:rPr>
              <a:t>.</a:t>
            </a:r>
            <a:br>
              <a:rPr lang="en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marL="457200" lvl="0" indent="-3797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800">
                <a:solidFill>
                  <a:schemeClr val="dk1"/>
                </a:solidFill>
              </a:rPr>
              <a:t>Does not explain how </a:t>
            </a:r>
            <a:r>
              <a:rPr lang="en" sz="2800" b="1">
                <a:solidFill>
                  <a:schemeClr val="dk1"/>
                </a:solidFill>
              </a:rPr>
              <a:t>emotional contagion</a:t>
            </a:r>
            <a:r>
              <a:rPr lang="en" sz="2800">
                <a:solidFill>
                  <a:schemeClr val="dk1"/>
                </a:solidFill>
              </a:rPr>
              <a:t> alters messages within interactions.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>
            <a:spLocks noGrp="1"/>
          </p:cNvSpPr>
          <p:nvPr>
            <p:ph type="body" idx="1"/>
          </p:nvPr>
        </p:nvSpPr>
        <p:spPr>
          <a:xfrm>
            <a:off x="311700" y="177050"/>
            <a:ext cx="8520600" cy="4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Schramm’s model assumes: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chemeClr val="dk1"/>
                </a:solidFill>
              </a:rPr>
              <a:t>Shared field of experience</a:t>
            </a:r>
            <a:r>
              <a:rPr lang="en" sz="2400">
                <a:solidFill>
                  <a:schemeClr val="dk1"/>
                </a:solidFill>
              </a:rPr>
              <a:t> → easy understanding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chemeClr val="dk1"/>
                </a:solidFill>
              </a:rPr>
              <a:t>Symmetrical communication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But in reality: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Field of experience often differs due to </a:t>
            </a:r>
            <a:r>
              <a:rPr lang="en" sz="2400" b="1">
                <a:solidFill>
                  <a:schemeClr val="dk1"/>
                </a:solidFill>
              </a:rPr>
              <a:t>cultural or socialization differences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Messages are interpreted through </a:t>
            </a:r>
            <a:r>
              <a:rPr lang="en" sz="2400" b="1">
                <a:solidFill>
                  <a:schemeClr val="dk1"/>
                </a:solidFill>
              </a:rPr>
              <a:t>schemas</a:t>
            </a:r>
            <a:r>
              <a:rPr lang="en" sz="2400">
                <a:solidFill>
                  <a:schemeClr val="dk1"/>
                </a:solidFill>
              </a:rPr>
              <a:t>, </a:t>
            </a:r>
            <a:r>
              <a:rPr lang="en" sz="2400" b="1">
                <a:solidFill>
                  <a:schemeClr val="dk1"/>
                </a:solidFill>
              </a:rPr>
              <a:t>biases</a:t>
            </a:r>
            <a:r>
              <a:rPr lang="en" sz="2400">
                <a:solidFill>
                  <a:schemeClr val="dk1"/>
                </a:solidFill>
              </a:rPr>
              <a:t>, and </a:t>
            </a:r>
            <a:r>
              <a:rPr lang="en" sz="2400" b="1">
                <a:solidFill>
                  <a:schemeClr val="dk1"/>
                </a:solidFill>
              </a:rPr>
              <a:t>stereotype filters</a:t>
            </a:r>
            <a:r>
              <a:rPr lang="en" sz="2400">
                <a:solidFill>
                  <a:schemeClr val="dk1"/>
                </a:solidFill>
              </a:rPr>
              <a:t>.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Ways to Improve the communication Process</a:t>
            </a:r>
            <a:endParaRPr/>
          </a:p>
        </p:txBody>
      </p:sp>
      <p:sp>
        <p:nvSpPr>
          <p:cNvPr id="222" name="Google Shape;222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914400" lvl="1" indent="-33528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feedback reduces </a:t>
            </a:r>
            <a:r>
              <a:rPr lang="en" sz="2400" b="1">
                <a:solidFill>
                  <a:schemeClr val="dk1"/>
                </a:solidFill>
              </a:rPr>
              <a:t>misattribution</a:t>
            </a:r>
            <a:br>
              <a:rPr lang="en" sz="2400" b="1">
                <a:solidFill>
                  <a:schemeClr val="dk1"/>
                </a:solidFill>
              </a:rPr>
            </a:br>
            <a:endParaRPr sz="2400" b="1">
              <a:solidFill>
                <a:schemeClr val="dk1"/>
              </a:solidFill>
            </a:endParaRPr>
          </a:p>
          <a:p>
            <a:pPr marL="914400" lvl="1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shared field of experience improves </a:t>
            </a:r>
            <a:r>
              <a:rPr lang="en" sz="2400" b="1">
                <a:solidFill>
                  <a:schemeClr val="dk1"/>
                </a:solidFill>
              </a:rPr>
              <a:t>in-group communication</a:t>
            </a:r>
            <a:br>
              <a:rPr lang="en" sz="2400" b="1">
                <a:solidFill>
                  <a:schemeClr val="dk1"/>
                </a:solidFill>
              </a:rPr>
            </a:br>
            <a:endParaRPr sz="2400" b="1">
              <a:solidFill>
                <a:schemeClr val="dk1"/>
              </a:solidFill>
            </a:endParaRPr>
          </a:p>
          <a:p>
            <a:pPr marL="914400" lvl="1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increasing common ground reduces </a:t>
            </a:r>
            <a:r>
              <a:rPr lang="en" sz="2400" b="1">
                <a:solidFill>
                  <a:schemeClr val="dk1"/>
                </a:solidFill>
              </a:rPr>
              <a:t>intergroup conflict</a:t>
            </a:r>
            <a:br>
              <a:rPr lang="en" sz="2400" b="1">
                <a:solidFill>
                  <a:schemeClr val="dk1"/>
                </a:solidFill>
              </a:rPr>
            </a:br>
            <a:endParaRPr sz="2400" b="1">
              <a:solidFill>
                <a:schemeClr val="dk1"/>
              </a:solidFill>
            </a:endParaRPr>
          </a:p>
          <a:p>
            <a:pPr marL="914400" lvl="1" indent="-3352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400">
                <a:solidFill>
                  <a:schemeClr val="dk1"/>
                </a:solidFill>
              </a:rPr>
              <a:t>active listening increases </a:t>
            </a:r>
            <a:r>
              <a:rPr lang="en" sz="2400" b="1">
                <a:solidFill>
                  <a:schemeClr val="dk1"/>
                </a:solidFill>
              </a:rPr>
              <a:t>interpersonal attraction &amp; trust</a:t>
            </a:r>
            <a:br>
              <a:rPr lang="en" sz="2400" b="1">
                <a:solidFill>
                  <a:schemeClr val="dk1"/>
                </a:solidFill>
              </a:rPr>
            </a:br>
            <a:endParaRPr sz="2400" b="1">
              <a:solidFill>
                <a:schemeClr val="dk1"/>
              </a:solidFill>
            </a:endParaRPr>
          </a:p>
          <a:p>
            <a:pPr marL="914400" lvl="1" indent="-27749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Char char="○"/>
            </a:pPr>
            <a:r>
              <a:rPr lang="en" sz="2400">
                <a:solidFill>
                  <a:schemeClr val="dk1"/>
                </a:solidFill>
              </a:rPr>
              <a:t>empathetic feedback strengthens </a:t>
            </a:r>
            <a:r>
              <a:rPr lang="en" sz="2400" b="1">
                <a:solidFill>
                  <a:schemeClr val="dk1"/>
                </a:solidFill>
              </a:rPr>
              <a:t>relationship bonds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Schramm’s Interactive Model</a:t>
            </a:r>
            <a:endParaRPr/>
          </a:p>
        </p:txBody>
      </p:sp>
      <p:sp>
        <p:nvSpPr>
          <p:cNvPr id="228" name="Google Shape;228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1. Expand the Field of Experience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Identify the </a:t>
            </a:r>
            <a:r>
              <a:rPr lang="en" sz="1100" b="1">
                <a:solidFill>
                  <a:schemeClr val="dk1"/>
                </a:solidFill>
              </a:rPr>
              <a:t>background, knowledge, culture, and expectations</a:t>
            </a:r>
            <a:r>
              <a:rPr lang="en" sz="1100">
                <a:solidFill>
                  <a:schemeClr val="dk1"/>
                </a:solidFill>
              </a:rPr>
              <a:t> of all parties.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lang="en" sz="1100" b="1">
                <a:solidFill>
                  <a:schemeClr val="dk1"/>
                </a:solidFill>
              </a:rPr>
              <a:t>familiar examples</a:t>
            </a:r>
            <a:r>
              <a:rPr lang="en" sz="1100">
                <a:solidFill>
                  <a:schemeClr val="dk1"/>
                </a:solidFill>
              </a:rPr>
              <a:t> and shared references to create common ground.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Provide </a:t>
            </a:r>
            <a:r>
              <a:rPr lang="en" sz="1100" b="1">
                <a:solidFill>
                  <a:schemeClr val="dk1"/>
                </a:solidFill>
              </a:rPr>
              <a:t>context-setting information</a:t>
            </a:r>
            <a:r>
              <a:rPr lang="en" sz="1100">
                <a:solidFill>
                  <a:schemeClr val="dk1"/>
                </a:solidFill>
              </a:rPr>
              <a:t> before complex messages.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2. Improve Encoding (Message Formation)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</a:t>
            </a:r>
            <a:r>
              <a:rPr lang="en" sz="1100" b="1">
                <a:solidFill>
                  <a:schemeClr val="dk1"/>
                </a:solidFill>
              </a:rPr>
              <a:t>clear, simple, and structured language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Choose symbols, words, and visuals that are </a:t>
            </a:r>
            <a:r>
              <a:rPr lang="en" sz="1100" b="1">
                <a:solidFill>
                  <a:schemeClr val="dk1"/>
                </a:solidFill>
              </a:rPr>
              <a:t>easily interpretable</a:t>
            </a:r>
            <a:r>
              <a:rPr lang="en" sz="1100">
                <a:solidFill>
                  <a:schemeClr val="dk1"/>
                </a:solidFill>
              </a:rPr>
              <a:t> by the receiver.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Avoid jargon unless meanings are mutually understood.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Using Schramm’s Interactive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3. Strengthen the Feedback Loop</a:t>
            </a:r>
            <a:endParaRPr sz="1300" b="1">
              <a:solidFill>
                <a:schemeClr val="dk1"/>
              </a:solidFill>
            </a:endParaRPr>
          </a:p>
          <a:p>
            <a:pPr marL="457200" lvl="0" indent="-287973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Enable </a:t>
            </a:r>
            <a:r>
              <a:rPr lang="en" sz="1100" b="1">
                <a:solidFill>
                  <a:schemeClr val="dk1"/>
                </a:solidFill>
              </a:rPr>
              <a:t>continuous back-and-forth exchange</a:t>
            </a:r>
            <a:r>
              <a:rPr lang="en" sz="1100">
                <a:solidFill>
                  <a:schemeClr val="dk1"/>
                </a:solidFill>
              </a:rPr>
              <a:t> (questions, clarifications, summaries).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Encourage the receiver to </a:t>
            </a:r>
            <a:r>
              <a:rPr lang="en" sz="1100" b="1">
                <a:solidFill>
                  <a:schemeClr val="dk1"/>
                </a:solidFill>
              </a:rPr>
              <a:t>paraphrase</a:t>
            </a:r>
            <a:r>
              <a:rPr lang="en" sz="1100">
                <a:solidFill>
                  <a:schemeClr val="dk1"/>
                </a:solidFill>
              </a:rPr>
              <a:t> or restate what they understood.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 multiple channels (verbal + written + visual) for feedback.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4. Reduce Noise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87973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Identify and minimise: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914400" lvl="1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 b="1">
                <a:solidFill>
                  <a:schemeClr val="dk1"/>
                </a:solidFill>
              </a:rPr>
              <a:t>Physical noise</a:t>
            </a:r>
            <a:r>
              <a:rPr lang="en" sz="1100">
                <a:solidFill>
                  <a:schemeClr val="dk1"/>
                </a:solidFill>
              </a:rPr>
              <a:t> (sound, interruptions)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914400" lvl="1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 b="1">
                <a:solidFill>
                  <a:schemeClr val="dk1"/>
                </a:solidFill>
              </a:rPr>
              <a:t>Semantic noise</a:t>
            </a:r>
            <a:r>
              <a:rPr lang="en" sz="1100">
                <a:solidFill>
                  <a:schemeClr val="dk1"/>
                </a:solidFill>
              </a:rPr>
              <a:t> (complex terms, ambiguous words)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914400" lvl="1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 b="1">
                <a:solidFill>
                  <a:schemeClr val="dk1"/>
                </a:solidFill>
              </a:rPr>
              <a:t>Psychological noise</a:t>
            </a:r>
            <a:r>
              <a:rPr lang="en" sz="1100">
                <a:solidFill>
                  <a:schemeClr val="dk1"/>
                </a:solidFill>
              </a:rPr>
              <a:t> (stress, stereotypes, emotions)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914400" lvl="1" indent="-28797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100" b="1">
                <a:solidFill>
                  <a:schemeClr val="dk1"/>
                </a:solidFill>
              </a:rPr>
              <a:t>Cultural noise</a:t>
            </a:r>
            <a:r>
              <a:rPr lang="en" sz="1100">
                <a:solidFill>
                  <a:schemeClr val="dk1"/>
                </a:solidFill>
              </a:rPr>
              <a:t> (differences in norms, meanings)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Using Schramm’s Interactive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5"/>
          <p:cNvSpPr txBox="1">
            <a:spLocks noGrp="1"/>
          </p:cNvSpPr>
          <p:nvPr>
            <p:ph type="body" idx="1"/>
          </p:nvPr>
        </p:nvSpPr>
        <p:spPr>
          <a:xfrm>
            <a:off x="196600" y="11082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5. Enhance Interpretation and Meaning-Making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 new information to </a:t>
            </a:r>
            <a:r>
              <a:rPr lang="en" sz="1100" b="1">
                <a:solidFill>
                  <a:schemeClr val="dk1"/>
                </a:solidFill>
              </a:rPr>
              <a:t>past experiences</a:t>
            </a:r>
            <a:r>
              <a:rPr lang="en" sz="1100">
                <a:solidFill>
                  <a:schemeClr val="dk1"/>
                </a:solidFill>
              </a:rPr>
              <a:t> of both sides.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analogies, stories, or relatable scenarios to build shared meaning.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Check regularly for </a:t>
            </a:r>
            <a:r>
              <a:rPr lang="en" sz="1100" b="1">
                <a:solidFill>
                  <a:schemeClr val="dk1"/>
                </a:solidFill>
              </a:rPr>
              <a:t>alignment in interpretation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6. Promote Mutual Role-Sharing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Allow both parties to act as </a:t>
            </a:r>
            <a:r>
              <a:rPr lang="en" sz="1100" b="1">
                <a:solidFill>
                  <a:schemeClr val="dk1"/>
                </a:solidFill>
              </a:rPr>
              <a:t>encoder and decoder</a:t>
            </a:r>
            <a:r>
              <a:rPr lang="en" sz="1100">
                <a:solidFill>
                  <a:schemeClr val="dk1"/>
                </a:solidFill>
              </a:rPr>
              <a:t> at different points.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Encourage participation, co-creation, and two-way dialogue.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Shared construction of meaning strengthens understanding.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1609</Words>
  <Application>Microsoft Office PowerPoint</Application>
  <PresentationFormat>On-screen Show (16:9)</PresentationFormat>
  <Paragraphs>198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Calibri</vt:lpstr>
      <vt:lpstr>Arial</vt:lpstr>
      <vt:lpstr>Roboto Mono</vt:lpstr>
      <vt:lpstr>Wingdings</vt:lpstr>
      <vt:lpstr>Simple Light</vt:lpstr>
      <vt:lpstr>Communication</vt:lpstr>
      <vt:lpstr>Communication in Social Psychology: Concepts, Processes &amp; Applications </vt:lpstr>
      <vt:lpstr>Communication in Social Psychology</vt:lpstr>
      <vt:lpstr>Communication Models</vt:lpstr>
      <vt:lpstr>Linear Model (Shannon &amp; Weaver) </vt:lpstr>
      <vt:lpstr>Components of the Shannon &amp; Weaver Model</vt:lpstr>
      <vt:lpstr>Components of the Shannon &amp; Weaver Model</vt:lpstr>
      <vt:lpstr>Components of the Shannon &amp; Weaver Model</vt:lpstr>
      <vt:lpstr>Components of the Shannon &amp; Weaver Model</vt:lpstr>
      <vt:lpstr>Linear flow chart: </vt:lpstr>
      <vt:lpstr>Linear flow chart: </vt:lpstr>
      <vt:lpstr>Strengths </vt:lpstr>
      <vt:lpstr>Limitations </vt:lpstr>
      <vt:lpstr>PowerPoint Presentation</vt:lpstr>
      <vt:lpstr>Communication Models </vt:lpstr>
      <vt:lpstr>PowerPoint Presentation</vt:lpstr>
      <vt:lpstr>PowerPoint Presentation</vt:lpstr>
      <vt:lpstr>Core Components of Schramm’s Model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Explains why:</vt:lpstr>
      <vt:lpstr>When Technical and Business Perspectives Differ </vt:lpstr>
      <vt:lpstr>Strengths </vt:lpstr>
      <vt:lpstr>Limitations</vt:lpstr>
      <vt:lpstr>Deception </vt:lpstr>
      <vt:lpstr>Emotional Arousal (Not fully accounted for) </vt:lpstr>
      <vt:lpstr>PowerPoint Presentation</vt:lpstr>
      <vt:lpstr>PowerPoint Presentation</vt:lpstr>
      <vt:lpstr>Ways to Improve the communication Process</vt:lpstr>
      <vt:lpstr>Using Schramm’s Interactive Model</vt:lpstr>
      <vt:lpstr>Using Schramm’s Interactive Model </vt:lpstr>
      <vt:lpstr>Using Schramm’s Interactive Model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cp:lastModifiedBy>Shweta Verma</cp:lastModifiedBy>
  <cp:revision>2</cp:revision>
  <dcterms:modified xsi:type="dcterms:W3CDTF">2026-08-17T03:29:57Z</dcterms:modified>
</cp:coreProperties>
</file>