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Roboto Mon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5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9b0633fe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9b0633fe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9b0633fe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9b0633fe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9b0633fe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9b0633fe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9b0633fe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9b0633fe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9b0633fe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9b0633fe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9b0633fe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9b0633fe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9b0633fea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9b0633fe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9b0633fe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9b0633fe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9b0633fe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9b0633fe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9b0633fea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9b0633fe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9b0633fe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9b0633fe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9b0633fea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9b0633fea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9b0633fea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9b0633fea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9b0633fe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9b0633fe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9b0633fea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9b0633fe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9b0633fe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9b0633fe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9b0633fea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9b0633fe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9b0633fea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9b0633fea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9b0633fea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9b0633fea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9b0633fea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9b0633fe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9b0633fea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9b0633fea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9b0633fea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9b0633fea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9b0633fea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9b0633fe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9b0633fe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9b0633fe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9b0633fea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9b0633fea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9b0633fea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9b0633fea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9b0633fea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9b0633fea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9b0633fea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9b0633fea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9b0633fea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9b0633fea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55bfa9f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55bfa9f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55bfa9fd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55bfa9fd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55bfa9fd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55bfa9fd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latin typeface="Calibri"/>
                <a:ea typeface="Calibri"/>
                <a:cs typeface="Calibri"/>
                <a:sym typeface="Calibri"/>
              </a:rPr>
              <a:t>Communication</a:t>
            </a:r>
            <a:endParaRPr sz="5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200"/>
              <a:t>Communication in Social Psychology: Concepts, Processes &amp; Applications</a:t>
            </a:r>
            <a:endParaRPr b="1" sz="3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272025" y="1668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Models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Verbal/Non-Verbal Communication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 &amp; Social Interaction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Barriers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Interpersonal Attraction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Communication in Social Psychology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uman behaviour is shaped through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interaction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not isolation.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social influence, persuasion, relationships, conflicts → begin through communication.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communication helps in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❖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unselling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Teaching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Workplace relationships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Conflict resolution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Mental health campaigns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Communication Models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Model (Shannon &amp; Weaver)</a:t>
            </a:r>
            <a:b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14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One-way, sender → receiver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 on “noise”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in mass messages (emergency alerts)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latin typeface="Calibri"/>
                <a:ea typeface="Calibri"/>
                <a:cs typeface="Calibri"/>
                <a:sym typeface="Calibri"/>
              </a:rPr>
              <a:t>Linear Model (Shannon &amp; Weaver)</a:t>
            </a:r>
            <a:br>
              <a:rPr b="1" lang="en" sz="24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in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1949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Shannon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Warren Weaver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Originally developed for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telephone and telegraph communication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➝ later applied to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communication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Purpose: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explain how messages travel from a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to a receiver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how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disrupts the process.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First scientific, engineering-based communication model.Introduced the concept of </a:t>
            </a:r>
            <a:r>
              <a:rPr b="1" lang="en" sz="2000">
                <a:solidFill>
                  <a:schemeClr val="dk1"/>
                </a:solidFill>
              </a:rPr>
              <a:t>noise</a:t>
            </a:r>
            <a:r>
              <a:rPr lang="en" sz="2000">
                <a:solidFill>
                  <a:schemeClr val="dk1"/>
                </a:solidFill>
              </a:rPr>
              <a:t>, which is essential in social psychology, organizational communication, and interpersonal communication.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the Shannon &amp; Weaver Model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nformation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Source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originator of the message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teacher deciding to explain “operant conditioning.”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Transmitter (Encoder)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Converts message into signals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The teacher’s brain → speech muscles convert idea into spoken words.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Components of the Shannon &amp; Weaver Model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hannel</a:t>
            </a:r>
            <a:b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medium through which the signal travels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Air (face-to-face), WhatsApp message, telephone line.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Components of the Shannon &amp; Weaver Model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(Decoder)</a:t>
            </a:r>
            <a:endParaRPr b="1"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Converts signals back into a message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Student hearing the lecture and understanding the meaning.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</a:t>
            </a:r>
            <a:endParaRPr b="1"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final target of the message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Student’s mind gaining the intended understanding.</a:t>
            </a:r>
            <a:br>
              <a:rPr lang="en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Components of the Shannon &amp; Weaver Model</a:t>
            </a:r>
            <a:endParaRPr b="1"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b="1" lang="en" sz="2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</a:t>
            </a:r>
            <a:b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957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Anything that distorts the message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Types: Physical, Physiological, Semantic, Psychological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Example: Poor internet in online class, accent, emotional stress, or confusing jargon.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986"/>
              <a:buFont typeface="Arial"/>
              <a:buNone/>
            </a:pPr>
            <a:r>
              <a:rPr lang="en" sz="3550">
                <a:latin typeface="Calibri"/>
                <a:ea typeface="Calibri"/>
                <a:cs typeface="Calibri"/>
                <a:sym typeface="Calibri"/>
              </a:rPr>
              <a:t>Linear flow chart:</a:t>
            </a:r>
            <a:endParaRPr sz="35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I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nformation Source → Encoder → Channel → Decoder → Destination</a:t>
            </a:r>
            <a:b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↑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Noise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(This is a classic linear model—one-way direction.)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986"/>
              <a:buFont typeface="Arial"/>
              <a:buNone/>
            </a:pPr>
            <a:r>
              <a:rPr lang="en" sz="3550">
                <a:latin typeface="Calibri"/>
                <a:ea typeface="Calibri"/>
                <a:cs typeface="Calibri"/>
                <a:sym typeface="Calibri"/>
              </a:rPr>
              <a:t>Linear flow chart:</a:t>
            </a:r>
            <a:endParaRPr sz="35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 of Flow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957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flows in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direction only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not part of the original model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though later versions include it.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Perfect for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mass communication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broadcasting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messages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or any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one-way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communication.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</a:t>
            </a:r>
            <a:r>
              <a:rPr lang="en"/>
              <a:t>hs </a:t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to understand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Introduced quantification of communication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Emphasised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—crucial for social psychology and media studies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for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radio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TV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messaging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announcements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</a:t>
            </a:r>
            <a:endParaRPr/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One-way communication:</a:t>
            </a:r>
            <a:r>
              <a:rPr lang="en" sz="2400">
                <a:solidFill>
                  <a:schemeClr val="dk1"/>
                </a:solidFill>
              </a:rPr>
              <a:t> No feedback; cannot capture interaction.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Ignores psychological factors:</a:t>
            </a:r>
            <a:r>
              <a:rPr lang="en" sz="2400">
                <a:solidFill>
                  <a:schemeClr val="dk1"/>
                </a:solidFill>
              </a:rPr>
              <a:t> Emotions, stress, attention affect decoding.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Ignores social context:</a:t>
            </a:r>
            <a:r>
              <a:rPr lang="en" sz="2400">
                <a:solidFill>
                  <a:schemeClr val="dk1"/>
                </a:solidFill>
              </a:rPr>
              <a:t> Power, norms, and group pressures influence communication.</a:t>
            </a:r>
            <a:br>
              <a:rPr lang="en" sz="2400">
                <a:solidFill>
                  <a:schemeClr val="dk1"/>
                </a:solidFill>
              </a:rPr>
            </a:br>
            <a:r>
              <a:rPr b="1" lang="en" sz="2400">
                <a:solidFill>
                  <a:schemeClr val="dk1"/>
                </a:solidFill>
              </a:rPr>
              <a:t>Cannot handle deception:</a:t>
            </a:r>
            <a:r>
              <a:rPr lang="en" sz="2400">
                <a:solidFill>
                  <a:schemeClr val="dk1"/>
                </a:solidFill>
              </a:rPr>
              <a:t> Assumes sender is always honest.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Ignores non-verbal cues:</a:t>
            </a:r>
            <a:r>
              <a:rPr lang="en" sz="2400">
                <a:solidFill>
                  <a:schemeClr val="dk1"/>
                </a:solidFill>
              </a:rPr>
              <a:t> Tone, gestures, and expressions are critical for meaning.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No group or cultural perspective:</a:t>
            </a:r>
            <a:r>
              <a:rPr lang="en" sz="2400">
                <a:solidFill>
                  <a:schemeClr val="dk1"/>
                </a:solidFill>
              </a:rPr>
              <a:t> Overlooks social identity and cultural differences.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Over-simplified:</a:t>
            </a:r>
            <a:r>
              <a:rPr lang="en" sz="2400">
                <a:solidFill>
                  <a:schemeClr val="dk1"/>
                </a:solidFill>
              </a:rPr>
              <a:t> Treats communication as signal transmission, not a dynamic process.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Communication Models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Interactive Model (Schramm)</a:t>
            </a:r>
            <a:br>
              <a:rPr b="1" lang="en" sz="2400">
                <a:solidFill>
                  <a:schemeClr val="dk1"/>
                </a:solidFill>
              </a:rPr>
            </a:b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Two-way exchange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2400">
                <a:solidFill>
                  <a:schemeClr val="dk1"/>
                </a:solidFill>
              </a:rPr>
              <a:t>Feedback, “fields of experience”</a:t>
            </a:r>
            <a:br>
              <a:rPr lang="en" sz="11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223150" y="479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Developed by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Wilbur Schramm (1954)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known as the </a:t>
            </a:r>
            <a:r>
              <a:rPr i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“Father of Communication Studies.”</a:t>
            </a:r>
            <a:br>
              <a:rPr i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model to show communication as a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two-way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reciprocal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process.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Unlike Shannon–Weaver’s </a:t>
            </a:r>
            <a:r>
              <a:rPr i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model, Schramm emphasized that communication involves: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meaning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interaction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 psychology views communication as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 interaction shaped by perception, interpretation, and shared understanding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Schramm’s model matches this by focusing on how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co-create meaning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through back-and-forth exchanges.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200"/>
              <a:t>Core Components of Schramm’s Model</a:t>
            </a:r>
            <a:endParaRPr b="1" sz="3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Four key ideas: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❖"/>
            </a:pPr>
            <a:r>
              <a:rPr lang="en" sz="2400">
                <a:solidFill>
                  <a:schemeClr val="dk1"/>
                </a:solidFill>
              </a:rPr>
              <a:t> Encoder–Interpreter–Decoder (E–I–D)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❖"/>
            </a:pPr>
            <a:r>
              <a:rPr lang="en" sz="2400">
                <a:solidFill>
                  <a:schemeClr val="dk1"/>
                </a:solidFill>
              </a:rPr>
              <a:t> Feedback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❖"/>
            </a:pPr>
            <a:r>
              <a:rPr lang="en" sz="2400">
                <a:solidFill>
                  <a:schemeClr val="dk1"/>
                </a:solidFill>
              </a:rPr>
              <a:t>Field of Experience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❖"/>
            </a:pPr>
            <a:r>
              <a:rPr lang="en" sz="2400">
                <a:solidFill>
                  <a:schemeClr val="dk1"/>
                </a:solidFill>
              </a:rPr>
              <a:t>Message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1"/>
                </a:solidFill>
              </a:rPr>
              <a:t> Encoder–Interpreter–Decoder (E–I–D)</a:t>
            </a:r>
            <a:endParaRPr b="1" sz="3200">
              <a:solidFill>
                <a:schemeClr val="dk1"/>
              </a:solidFill>
            </a:endParaRPr>
          </a:p>
          <a:p>
            <a:pPr indent="-3860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</a:rPr>
              <a:t>Each person </a:t>
            </a:r>
            <a:r>
              <a:rPr b="1" lang="en" sz="3200">
                <a:solidFill>
                  <a:schemeClr val="dk1"/>
                </a:solidFill>
              </a:rPr>
              <a:t>encodes</a:t>
            </a:r>
            <a:r>
              <a:rPr lang="en" sz="3200">
                <a:solidFill>
                  <a:schemeClr val="dk1"/>
                </a:solidFill>
              </a:rPr>
              <a:t> a message, </a:t>
            </a:r>
            <a:r>
              <a:rPr b="1" lang="en" sz="3200">
                <a:solidFill>
                  <a:schemeClr val="dk1"/>
                </a:solidFill>
              </a:rPr>
              <a:t>interprets</a:t>
            </a:r>
            <a:r>
              <a:rPr lang="en" sz="3200">
                <a:solidFill>
                  <a:schemeClr val="dk1"/>
                </a:solidFill>
              </a:rPr>
              <a:t> the message, and </a:t>
            </a:r>
            <a:r>
              <a:rPr b="1" lang="en" sz="3200">
                <a:solidFill>
                  <a:schemeClr val="dk1"/>
                </a:solidFill>
              </a:rPr>
              <a:t>decodes</a:t>
            </a:r>
            <a:r>
              <a:rPr lang="en" sz="3200">
                <a:solidFill>
                  <a:schemeClr val="dk1"/>
                </a:solidFill>
              </a:rPr>
              <a:t> incoming messages.</a:t>
            </a:r>
            <a:br>
              <a:rPr lang="en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indent="-3860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</a:rPr>
              <a:t>Communication is effective only when interpretation matches intent.</a:t>
            </a:r>
            <a:br>
              <a:rPr lang="en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" sz="3200">
                <a:solidFill>
                  <a:schemeClr val="dk1"/>
                </a:solidFill>
              </a:rPr>
              <a:t>Feedback</a:t>
            </a:r>
            <a:endParaRPr b="1" sz="3200">
              <a:solidFill>
                <a:schemeClr val="dk1"/>
              </a:solidFill>
            </a:endParaRPr>
          </a:p>
          <a:p>
            <a:pPr indent="-3860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</a:rPr>
              <a:t>The receiver’s response becomes a new message → </a:t>
            </a:r>
            <a:r>
              <a:rPr b="1" lang="en" sz="3200">
                <a:solidFill>
                  <a:schemeClr val="dk1"/>
                </a:solidFill>
              </a:rPr>
              <a:t>communication becomes a cycle</a:t>
            </a:r>
            <a:r>
              <a:rPr lang="en" sz="3200">
                <a:solidFill>
                  <a:schemeClr val="dk1"/>
                </a:solidFill>
              </a:rPr>
              <a:t>, not a one-time act.</a:t>
            </a:r>
            <a:br>
              <a:rPr lang="en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indent="-3860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</a:rPr>
              <a:t>Makes the model </a:t>
            </a:r>
            <a:r>
              <a:rPr b="1" lang="en" sz="3200">
                <a:solidFill>
                  <a:schemeClr val="dk1"/>
                </a:solidFill>
              </a:rPr>
              <a:t>interactive</a:t>
            </a:r>
            <a:r>
              <a:rPr lang="en" sz="3200">
                <a:solidFill>
                  <a:schemeClr val="dk1"/>
                </a:solidFill>
              </a:rPr>
              <a:t>, more human-like.</a:t>
            </a:r>
            <a:br>
              <a:rPr lang="en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idx="1" type="body"/>
          </p:nvPr>
        </p:nvSpPr>
        <p:spPr>
          <a:xfrm>
            <a:off x="311700" y="398375"/>
            <a:ext cx="8520600" cy="41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Field of Experience</a:t>
            </a:r>
            <a:endParaRPr b="1" sz="2400">
              <a:solidFill>
                <a:schemeClr val="dk1"/>
              </a:solidFill>
            </a:endParaRPr>
          </a:p>
          <a:p>
            <a:pPr indent="-36957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The overlap of cultural background, language, beliefs, values, and experiences.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If the overlap is small → misunderstanding.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Message</a:t>
            </a:r>
            <a:endParaRPr b="1" sz="2400">
              <a:solidFill>
                <a:schemeClr val="dk1"/>
              </a:solidFill>
            </a:endParaRPr>
          </a:p>
          <a:p>
            <a:pPr indent="-36957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The symbolic construction (verbal or non-verbal) exchanged between two people.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Schramm’s Interactive Loop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Encoder → Message → Decoder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↑                   ↓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Interpreter ← Feedback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Key Message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Meaning is not transferred; </a:t>
            </a:r>
            <a:r>
              <a:rPr b="1" lang="en" sz="1100">
                <a:solidFill>
                  <a:schemeClr val="dk1"/>
                </a:solidFill>
              </a:rPr>
              <a:t>meaning is negotiated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Communication improves when </a:t>
            </a:r>
            <a:r>
              <a:rPr b="1" lang="en" sz="1100">
                <a:solidFill>
                  <a:schemeClr val="dk1"/>
                </a:solidFill>
              </a:rPr>
              <a:t>shared field of experience increases</a:t>
            </a:r>
            <a:r>
              <a:rPr lang="en" sz="1100">
                <a:solidFill>
                  <a:schemeClr val="dk1"/>
                </a:solidFill>
              </a:rPr>
              <a:t> (e.g., shared culture, shared language).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Explains why:</a:t>
            </a:r>
            <a:endParaRPr/>
          </a:p>
        </p:txBody>
      </p:sp>
      <p:sp>
        <p:nvSpPr>
          <p:cNvPr id="181" name="Google Shape;18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Intergroup communication often fails (small overlap)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Friends communicate smoothly (large overlap)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Cultural stereotypes distort interpretation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Miscommunication arises from schemas, attitudes, expectations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0986"/>
              <a:buFont typeface="Arial"/>
              <a:buNone/>
            </a:pPr>
            <a:r>
              <a:rPr b="1" lang="en" sz="3550"/>
              <a:t>Strengths</a:t>
            </a:r>
            <a:endParaRPr b="1" sz="355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187" name="Google Shape;18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Introduces </a:t>
            </a:r>
            <a:r>
              <a:rPr b="1" lang="en" sz="2400">
                <a:solidFill>
                  <a:schemeClr val="dk1"/>
                </a:solidFill>
              </a:rPr>
              <a:t>feedback</a:t>
            </a:r>
            <a:r>
              <a:rPr lang="en" sz="2400">
                <a:solidFill>
                  <a:schemeClr val="dk1"/>
                </a:solidFill>
              </a:rPr>
              <a:t> — essential in interpersonal communication.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Emphasizes </a:t>
            </a:r>
            <a:r>
              <a:rPr b="1" lang="en" sz="2400">
                <a:solidFill>
                  <a:schemeClr val="dk1"/>
                </a:solidFill>
              </a:rPr>
              <a:t>shared meaning</a:t>
            </a:r>
            <a:r>
              <a:rPr lang="en" sz="2400">
                <a:solidFill>
                  <a:schemeClr val="dk1"/>
                </a:solidFill>
              </a:rPr>
              <a:t>, not just message transfer.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Explains communication breakdown using </a:t>
            </a:r>
            <a:r>
              <a:rPr b="1" lang="en" sz="2400">
                <a:solidFill>
                  <a:schemeClr val="dk1"/>
                </a:solidFill>
              </a:rPr>
              <a:t>field of experience</a:t>
            </a:r>
            <a:r>
              <a:rPr lang="en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Better for </a:t>
            </a:r>
            <a:r>
              <a:rPr b="1" lang="en" sz="2400">
                <a:solidFill>
                  <a:schemeClr val="dk1"/>
                </a:solidFill>
              </a:rPr>
              <a:t>interpersonal, face-to-face, teaching, counseling, conflict resolution</a:t>
            </a:r>
            <a:r>
              <a:rPr lang="en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Limitations</a:t>
            </a:r>
            <a:endParaRPr/>
          </a:p>
        </p:txBody>
      </p:sp>
      <p:sp>
        <p:nvSpPr>
          <p:cNvPr id="193" name="Google Shape;19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Assumes communication is always balanced &amp; reciprocal (not true in power hierarchies).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A patient may not question a doctor, even if confused.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Does not fully account for: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deception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emotional arousal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prejudice-based interpretation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group-level processes (norms, conformity)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Strategic manipulation of messages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(impression-management, self-presentation).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Intentional distortion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during encoding.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of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ambiguous non-verbal cues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mislead.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/>
              <a:t>Emotional Arousal (Not fully accounted for)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205" name="Google Shape;20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Social psychology demonstrates that emotional arousal affects:</a:t>
            </a:r>
            <a:endParaRPr sz="2800">
              <a:solidFill>
                <a:schemeClr val="dk1"/>
              </a:solidFill>
            </a:endParaRPr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800">
                <a:solidFill>
                  <a:schemeClr val="dk1"/>
                </a:solidFill>
              </a:rPr>
              <a:t>Encoding</a:t>
            </a:r>
            <a:r>
              <a:rPr lang="en" sz="2800">
                <a:solidFill>
                  <a:schemeClr val="dk1"/>
                </a:solidFill>
              </a:rPr>
              <a:t> (e.g., anger → harsh tone)</a:t>
            </a:r>
            <a:br>
              <a:rPr lang="e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800">
                <a:solidFill>
                  <a:schemeClr val="dk1"/>
                </a:solidFill>
              </a:rPr>
              <a:t>Decoding</a:t>
            </a:r>
            <a:r>
              <a:rPr lang="en" sz="2800">
                <a:solidFill>
                  <a:schemeClr val="dk1"/>
                </a:solidFill>
              </a:rPr>
              <a:t> (stress → misinterpretation)</a:t>
            </a:r>
            <a:br>
              <a:rPr lang="e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800">
                <a:solidFill>
                  <a:schemeClr val="dk1"/>
                </a:solidFill>
              </a:rPr>
              <a:t>Feedback quality</a:t>
            </a:r>
            <a:br>
              <a:rPr b="1" lang="en" sz="2800">
                <a:solidFill>
                  <a:schemeClr val="dk1"/>
                </a:solidFill>
              </a:rPr>
            </a:br>
            <a:endParaRPr b="1" sz="2800">
              <a:solidFill>
                <a:schemeClr val="dk1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800">
                <a:solidFill>
                  <a:schemeClr val="dk1"/>
                </a:solidFill>
              </a:rPr>
              <a:t>Attention and memory</a:t>
            </a:r>
            <a:br>
              <a:rPr b="1" lang="e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But Schramm’s model:</a:t>
            </a:r>
            <a:endParaRPr sz="2800">
              <a:solidFill>
                <a:schemeClr val="dk1"/>
              </a:solidFill>
            </a:endParaRPr>
          </a:p>
          <a:p>
            <a:pPr indent="-37973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00">
                <a:solidFill>
                  <a:schemeClr val="dk1"/>
                </a:solidFill>
              </a:rPr>
              <a:t>Treats encoding/decoding as </a:t>
            </a:r>
            <a:r>
              <a:rPr b="1" lang="en" sz="2800">
                <a:solidFill>
                  <a:schemeClr val="dk1"/>
                </a:solidFill>
              </a:rPr>
              <a:t>stable and rational</a:t>
            </a:r>
            <a:r>
              <a:rPr lang="en" sz="2800">
                <a:solidFill>
                  <a:schemeClr val="dk1"/>
                </a:solidFill>
              </a:rPr>
              <a:t>.</a:t>
            </a:r>
            <a:br>
              <a:rPr lang="e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00">
                <a:solidFill>
                  <a:schemeClr val="dk1"/>
                </a:solidFill>
              </a:rPr>
              <a:t>Ignores the impact of emotions on </a:t>
            </a:r>
            <a:r>
              <a:rPr b="1" lang="en" sz="2800">
                <a:solidFill>
                  <a:schemeClr val="dk1"/>
                </a:solidFill>
              </a:rPr>
              <a:t>perception</a:t>
            </a:r>
            <a:r>
              <a:rPr lang="en" sz="2800">
                <a:solidFill>
                  <a:schemeClr val="dk1"/>
                </a:solidFill>
              </a:rPr>
              <a:t>, </a:t>
            </a:r>
            <a:r>
              <a:rPr b="1" lang="en" sz="2800">
                <a:solidFill>
                  <a:schemeClr val="dk1"/>
                </a:solidFill>
              </a:rPr>
              <a:t>tone</a:t>
            </a:r>
            <a:r>
              <a:rPr lang="en" sz="2800">
                <a:solidFill>
                  <a:schemeClr val="dk1"/>
                </a:solidFill>
              </a:rPr>
              <a:t>, and </a:t>
            </a:r>
            <a:r>
              <a:rPr b="1" lang="en" sz="2800">
                <a:solidFill>
                  <a:schemeClr val="dk1"/>
                </a:solidFill>
              </a:rPr>
              <a:t>interpretation</a:t>
            </a:r>
            <a:r>
              <a:rPr lang="en" sz="2800">
                <a:solidFill>
                  <a:schemeClr val="dk1"/>
                </a:solidFill>
              </a:rPr>
              <a:t>.</a:t>
            </a:r>
            <a:br>
              <a:rPr lang="e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00">
                <a:solidFill>
                  <a:schemeClr val="dk1"/>
                </a:solidFill>
              </a:rPr>
              <a:t>Does not explain how </a:t>
            </a:r>
            <a:r>
              <a:rPr b="1" lang="en" sz="2800">
                <a:solidFill>
                  <a:schemeClr val="dk1"/>
                </a:solidFill>
              </a:rPr>
              <a:t>emotional contagion</a:t>
            </a:r>
            <a:r>
              <a:rPr lang="en" sz="2800">
                <a:solidFill>
                  <a:schemeClr val="dk1"/>
                </a:solidFill>
              </a:rPr>
              <a:t> alters messages within interactions.</a:t>
            </a:r>
            <a:endParaRPr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1"/>
          <p:cNvSpPr txBox="1"/>
          <p:nvPr>
            <p:ph idx="1" type="body"/>
          </p:nvPr>
        </p:nvSpPr>
        <p:spPr>
          <a:xfrm>
            <a:off x="311700" y="177050"/>
            <a:ext cx="8520600" cy="43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Schramm’s model assumes: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</a:rPr>
              <a:t>Shared field of experience</a:t>
            </a:r>
            <a:r>
              <a:rPr lang="en" sz="2400">
                <a:solidFill>
                  <a:schemeClr val="dk1"/>
                </a:solidFill>
              </a:rPr>
              <a:t> → easy understanding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</a:rPr>
              <a:t>Symmetrical communication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But in reality: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Field of experience often differs due to </a:t>
            </a:r>
            <a:r>
              <a:rPr b="1" lang="en" sz="2400">
                <a:solidFill>
                  <a:schemeClr val="dk1"/>
                </a:solidFill>
              </a:rPr>
              <a:t>cultural or socialization differences</a:t>
            </a:r>
            <a:r>
              <a:rPr lang="en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Messages are interpreted through </a:t>
            </a:r>
            <a:r>
              <a:rPr b="1" lang="en" sz="2400">
                <a:solidFill>
                  <a:schemeClr val="dk1"/>
                </a:solidFill>
              </a:rPr>
              <a:t>schemas</a:t>
            </a:r>
            <a:r>
              <a:rPr lang="en" sz="2400">
                <a:solidFill>
                  <a:schemeClr val="dk1"/>
                </a:solidFill>
              </a:rPr>
              <a:t>, </a:t>
            </a:r>
            <a:r>
              <a:rPr b="1" lang="en" sz="2400">
                <a:solidFill>
                  <a:schemeClr val="dk1"/>
                </a:solidFill>
              </a:rPr>
              <a:t>biases</a:t>
            </a:r>
            <a:r>
              <a:rPr lang="en" sz="2400">
                <a:solidFill>
                  <a:schemeClr val="dk1"/>
                </a:solidFill>
              </a:rPr>
              <a:t>, and </a:t>
            </a:r>
            <a:r>
              <a:rPr b="1" lang="en" sz="2400">
                <a:solidFill>
                  <a:schemeClr val="dk1"/>
                </a:solidFill>
              </a:rPr>
              <a:t>stereotype filters</a:t>
            </a:r>
            <a:r>
              <a:rPr lang="en" sz="2400">
                <a:solidFill>
                  <a:schemeClr val="dk1"/>
                </a:solidFill>
              </a:rPr>
              <a:t>.</a:t>
            </a:r>
            <a:endParaRPr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Ways to Improve the communication Process</a:t>
            </a:r>
            <a:endParaRPr/>
          </a:p>
        </p:txBody>
      </p:sp>
      <p:sp>
        <p:nvSpPr>
          <p:cNvPr id="222" name="Google Shape;22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3528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feedback reduces </a:t>
            </a:r>
            <a:r>
              <a:rPr b="1" lang="en" sz="2400">
                <a:solidFill>
                  <a:schemeClr val="dk1"/>
                </a:solidFill>
              </a:rPr>
              <a:t>misattribution</a:t>
            </a:r>
            <a:br>
              <a:rPr b="1" lang="en" sz="2400">
                <a:solidFill>
                  <a:schemeClr val="dk1"/>
                </a:solidFill>
              </a:rPr>
            </a:br>
            <a:endParaRPr b="1" sz="2400">
              <a:solidFill>
                <a:schemeClr val="dk1"/>
              </a:solidFill>
            </a:endParaRPr>
          </a:p>
          <a:p>
            <a:pPr indent="-33528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shared field of experience improves </a:t>
            </a:r>
            <a:r>
              <a:rPr b="1" lang="en" sz="2400">
                <a:solidFill>
                  <a:schemeClr val="dk1"/>
                </a:solidFill>
              </a:rPr>
              <a:t>in-group communication</a:t>
            </a:r>
            <a:br>
              <a:rPr b="1" lang="en" sz="2400">
                <a:solidFill>
                  <a:schemeClr val="dk1"/>
                </a:solidFill>
              </a:rPr>
            </a:br>
            <a:endParaRPr b="1" sz="2400">
              <a:solidFill>
                <a:schemeClr val="dk1"/>
              </a:solidFill>
            </a:endParaRPr>
          </a:p>
          <a:p>
            <a:pPr indent="-33528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increasing common ground reduces </a:t>
            </a:r>
            <a:r>
              <a:rPr b="1" lang="en" sz="2400">
                <a:solidFill>
                  <a:schemeClr val="dk1"/>
                </a:solidFill>
              </a:rPr>
              <a:t>intergroup conflict</a:t>
            </a:r>
            <a:br>
              <a:rPr b="1" lang="en" sz="2400">
                <a:solidFill>
                  <a:schemeClr val="dk1"/>
                </a:solidFill>
              </a:rPr>
            </a:br>
            <a:endParaRPr b="1" sz="2400">
              <a:solidFill>
                <a:schemeClr val="dk1"/>
              </a:solidFill>
            </a:endParaRPr>
          </a:p>
          <a:p>
            <a:pPr indent="-33528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active listening increases </a:t>
            </a:r>
            <a:r>
              <a:rPr b="1" lang="en" sz="2400">
                <a:solidFill>
                  <a:schemeClr val="dk1"/>
                </a:solidFill>
              </a:rPr>
              <a:t>interpersonal attraction &amp; trust</a:t>
            </a:r>
            <a:br>
              <a:rPr b="1" lang="en" sz="2400">
                <a:solidFill>
                  <a:schemeClr val="dk1"/>
                </a:solidFill>
              </a:rPr>
            </a:br>
            <a:endParaRPr b="1" sz="2400">
              <a:solidFill>
                <a:schemeClr val="dk1"/>
              </a:solidFill>
            </a:endParaRPr>
          </a:p>
          <a:p>
            <a:pPr indent="-27749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Char char="○"/>
            </a:pPr>
            <a:r>
              <a:rPr lang="en" sz="2400">
                <a:solidFill>
                  <a:schemeClr val="dk1"/>
                </a:solidFill>
              </a:rPr>
              <a:t>empathetic feedback strengthens </a:t>
            </a:r>
            <a:r>
              <a:rPr b="1" lang="en" sz="2400">
                <a:solidFill>
                  <a:schemeClr val="dk1"/>
                </a:solidFill>
              </a:rPr>
              <a:t>relationship bonds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Schramm’s Interactive Model</a:t>
            </a:r>
            <a:endParaRPr/>
          </a:p>
        </p:txBody>
      </p:sp>
      <p:sp>
        <p:nvSpPr>
          <p:cNvPr id="228" name="Google Shape;22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Expand the Field of Experience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Identify the </a:t>
            </a:r>
            <a:r>
              <a:rPr b="1" lang="en" sz="1100">
                <a:solidFill>
                  <a:schemeClr val="dk1"/>
                </a:solidFill>
              </a:rPr>
              <a:t>background, knowledge, culture, and expectations</a:t>
            </a:r>
            <a:r>
              <a:rPr lang="en" sz="1100">
                <a:solidFill>
                  <a:schemeClr val="dk1"/>
                </a:solidFill>
              </a:rPr>
              <a:t> of all parties.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familiar examples</a:t>
            </a:r>
            <a:r>
              <a:rPr lang="en" sz="1100">
                <a:solidFill>
                  <a:schemeClr val="dk1"/>
                </a:solidFill>
              </a:rPr>
              <a:t> and shared references to create common ground.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Provide </a:t>
            </a:r>
            <a:r>
              <a:rPr b="1" lang="en" sz="1100">
                <a:solidFill>
                  <a:schemeClr val="dk1"/>
                </a:solidFill>
              </a:rPr>
              <a:t>context-setting information</a:t>
            </a:r>
            <a:r>
              <a:rPr lang="en" sz="1100">
                <a:solidFill>
                  <a:schemeClr val="dk1"/>
                </a:solidFill>
              </a:rPr>
              <a:t> before complex messages.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2. Improve Encoding (Message Formation)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clear, simple, and structured language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Choose symbols, words, and visuals that are </a:t>
            </a:r>
            <a:r>
              <a:rPr b="1" lang="en" sz="1100">
                <a:solidFill>
                  <a:schemeClr val="dk1"/>
                </a:solidFill>
              </a:rPr>
              <a:t>easily interpretable</a:t>
            </a:r>
            <a:r>
              <a:rPr lang="en" sz="1100">
                <a:solidFill>
                  <a:schemeClr val="dk1"/>
                </a:solidFill>
              </a:rPr>
              <a:t> by the receiver.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Avoid jargon unless meanings are mutually understood.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Using Schramm’s Interactive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3. Strengthen the Feedback Loop</a:t>
            </a:r>
            <a:endParaRPr b="1" sz="13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Enable </a:t>
            </a:r>
            <a:r>
              <a:rPr b="1" lang="en" sz="1100">
                <a:solidFill>
                  <a:schemeClr val="dk1"/>
                </a:solidFill>
              </a:rPr>
              <a:t>continuous back-and-forth exchange</a:t>
            </a:r>
            <a:r>
              <a:rPr lang="en" sz="1100">
                <a:solidFill>
                  <a:schemeClr val="dk1"/>
                </a:solidFill>
              </a:rPr>
              <a:t> (questions, clarifications, summaries).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Encourage the receiver to </a:t>
            </a:r>
            <a:r>
              <a:rPr b="1" lang="en" sz="1100">
                <a:solidFill>
                  <a:schemeClr val="dk1"/>
                </a:solidFill>
              </a:rPr>
              <a:t>paraphrase</a:t>
            </a:r>
            <a:r>
              <a:rPr lang="en" sz="1100">
                <a:solidFill>
                  <a:schemeClr val="dk1"/>
                </a:solidFill>
              </a:rPr>
              <a:t> or restate what they understood.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Use multiple channels (verbal + written + visual) for feedback.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4. Reduce Noise</a:t>
            </a:r>
            <a:endParaRPr b="1" sz="13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Identify and minimise: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1100">
                <a:solidFill>
                  <a:schemeClr val="dk1"/>
                </a:solidFill>
              </a:rPr>
              <a:t>Physical noise</a:t>
            </a:r>
            <a:r>
              <a:rPr lang="en" sz="1100">
                <a:solidFill>
                  <a:schemeClr val="dk1"/>
                </a:solidFill>
              </a:rPr>
              <a:t> (sound, interruptions)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1100">
                <a:solidFill>
                  <a:schemeClr val="dk1"/>
                </a:solidFill>
              </a:rPr>
              <a:t>Semantic noise</a:t>
            </a:r>
            <a:r>
              <a:rPr lang="en" sz="1100">
                <a:solidFill>
                  <a:schemeClr val="dk1"/>
                </a:solidFill>
              </a:rPr>
              <a:t> (complex terms, ambiguous words)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1100">
                <a:solidFill>
                  <a:schemeClr val="dk1"/>
                </a:solidFill>
              </a:rPr>
              <a:t>Psychological noise</a:t>
            </a:r>
            <a:r>
              <a:rPr lang="en" sz="1100">
                <a:solidFill>
                  <a:schemeClr val="dk1"/>
                </a:solidFill>
              </a:rPr>
              <a:t> (stress, stereotypes, emotions)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 sz="1100">
                <a:solidFill>
                  <a:schemeClr val="dk1"/>
                </a:solidFill>
              </a:rPr>
              <a:t>Cultural noise</a:t>
            </a:r>
            <a:r>
              <a:rPr lang="en" sz="1100">
                <a:solidFill>
                  <a:schemeClr val="dk1"/>
                </a:solidFill>
              </a:rPr>
              <a:t> (differences in norms, meanings)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Using Schramm’s Interactive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5"/>
          <p:cNvSpPr txBox="1"/>
          <p:nvPr>
            <p:ph idx="1" type="body"/>
          </p:nvPr>
        </p:nvSpPr>
        <p:spPr>
          <a:xfrm>
            <a:off x="196600" y="1108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5. Enhance Interpretation and Meaning-Making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Connect new information to </a:t>
            </a:r>
            <a:r>
              <a:rPr b="1" lang="en" sz="1100">
                <a:solidFill>
                  <a:schemeClr val="dk1"/>
                </a:solidFill>
              </a:rPr>
              <a:t>past experiences</a:t>
            </a:r>
            <a:r>
              <a:rPr lang="en" sz="1100">
                <a:solidFill>
                  <a:schemeClr val="dk1"/>
                </a:solidFill>
              </a:rPr>
              <a:t> of both sides.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analogies, stories, or relatable scenarios to build shared meaning.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Check regularly for </a:t>
            </a:r>
            <a:r>
              <a:rPr b="1" lang="en" sz="1100">
                <a:solidFill>
                  <a:schemeClr val="dk1"/>
                </a:solidFill>
              </a:rPr>
              <a:t>alignment in interpretation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6. Promote Mutual Role-Sharing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Allow both parties to act as </a:t>
            </a:r>
            <a:r>
              <a:rPr b="1" lang="en" sz="1100">
                <a:solidFill>
                  <a:schemeClr val="dk1"/>
                </a:solidFill>
              </a:rPr>
              <a:t>encoder and decoder</a:t>
            </a:r>
            <a:r>
              <a:rPr lang="en" sz="1100">
                <a:solidFill>
                  <a:schemeClr val="dk1"/>
                </a:solidFill>
              </a:rPr>
              <a:t> at different points.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Encourage participation, co-creation, and two-way dialogue.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Shared construction of meaning strengthens understanding.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