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66" r:id="rId13"/>
    <p:sldId id="267" r:id="rId14"/>
    <p:sldId id="268" r:id="rId15"/>
    <p:sldId id="269" r:id="rId16"/>
    <p:sldId id="273" r:id="rId17"/>
    <p:sldId id="274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92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68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444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7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3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6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2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9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8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julian_treasure_5_ways_to_listen_better?embed=tr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417689"/>
            <a:ext cx="6571343" cy="3962400"/>
          </a:xfrm>
        </p:spPr>
        <p:txBody>
          <a:bodyPr>
            <a:normAutofit/>
          </a:bodyPr>
          <a:lstStyle/>
          <a:p>
            <a:r>
              <a:rPr sz="2800" dirty="0"/>
              <a:t>Listening as an Art – Persuasive &amp; Effective Listening: Giving &amp; Receiving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0978"/>
            <a:ext cx="8229600" cy="3665185"/>
          </a:xfrm>
        </p:spPr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Listening as an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Listening is a conscious, skillful process—not passive hearing.</a:t>
            </a:r>
          </a:p>
          <a:p>
            <a:r>
              <a:t>Essential for academic, workplace, and interpersonal success.</a:t>
            </a:r>
          </a:p>
          <a:p>
            <a:r>
              <a:t>“Most people do not listen with the intent to understand; they listen with the intent to reply.” – Stephen Covey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Listening vs Hearing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Hearing: Passive, physiological process.</a:t>
            </a:r>
          </a:p>
          <a:p>
            <a:r>
              <a:t>Listening: Active, cognitive &amp; emotional process.</a:t>
            </a:r>
          </a:p>
          <a:p>
            <a:r>
              <a:t>Listening requires interpretation and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Persuasive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Listening to understand and influence.</a:t>
            </a:r>
          </a:p>
          <a:p>
            <a:r>
              <a:t>Purpose: Build rapport, credibility, and trust.</a:t>
            </a:r>
          </a:p>
          <a:p>
            <a:r>
              <a:t>Examples: Sales, negotiations, leadership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for Persuasive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relevant questions.</a:t>
            </a:r>
          </a:p>
          <a:p>
            <a:r>
              <a:t>Clarify doubts and paraphrase.</a:t>
            </a:r>
          </a:p>
          <a:p>
            <a:r>
              <a:t>Maintain open body language.</a:t>
            </a:r>
          </a:p>
          <a:p>
            <a:r>
              <a:t>Show empathy.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focus on the speaker.</a:t>
            </a:r>
          </a:p>
          <a:p>
            <a:r>
              <a:t>Avoid distractions and multitasking.</a:t>
            </a:r>
          </a:p>
          <a:p>
            <a:r>
              <a:t>Provide verbal &amp; non-verbal cues.</a:t>
            </a:r>
          </a:p>
          <a:p>
            <a:r>
              <a:t>Summarize key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 to Effective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Physical: noise, poor audio.</a:t>
            </a:r>
          </a:p>
          <a:p>
            <a:r>
              <a:t>Psychological: bias, preconceptions.</a:t>
            </a:r>
          </a:p>
          <a:p>
            <a:r>
              <a:t>Linguistic: accent, jargon.</a:t>
            </a:r>
          </a:p>
          <a:p>
            <a:r>
              <a:t>Attitudinal: ego, impatience.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in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Response to a sender’s message.</a:t>
            </a:r>
          </a:p>
          <a:p>
            <a:r>
              <a:t>Purpose: Clarify, reinforce, build trust.</a:t>
            </a:r>
          </a:p>
          <a:p>
            <a:r>
              <a:t>Types: Positive, constructive, negative.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Giving Feedback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 specific, not vague.</a:t>
            </a:r>
          </a:p>
          <a:p>
            <a:r>
              <a:rPr dirty="0"/>
              <a:t>Focus on behavior, not personality.</a:t>
            </a:r>
          </a:p>
          <a:p>
            <a:r>
              <a:rPr dirty="0"/>
              <a:t>Use 'I' statements instead of 'You'.</a:t>
            </a:r>
          </a:p>
          <a:p>
            <a:r>
              <a:rPr dirty="0"/>
              <a:t>Balance positive and improvement points (Sandwich method).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0DC6-4139-4054-BE2D-CF3AD288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Sandwich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0999-8A01-4AE4-B94C-B06761199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Structure</a:t>
            </a:r>
          </a:p>
          <a:p>
            <a:r>
              <a:rPr lang="en-US" b="1" dirty="0"/>
              <a:t>Positive Feedback (Top Bread)</a:t>
            </a:r>
            <a:endParaRPr lang="en-US" dirty="0"/>
          </a:p>
          <a:p>
            <a:pPr lvl="1"/>
            <a:r>
              <a:rPr lang="en-US" dirty="0"/>
              <a:t>Start with something the person is doing well.</a:t>
            </a:r>
          </a:p>
          <a:p>
            <a:pPr lvl="1"/>
            <a:r>
              <a:rPr lang="en-US" dirty="0"/>
              <a:t>This helps set a constructive tone and makes them feel valued.</a:t>
            </a:r>
          </a:p>
          <a:p>
            <a:r>
              <a:rPr lang="en-US" b="1" dirty="0"/>
              <a:t>Constructive Criticism (Filling)</a:t>
            </a:r>
            <a:endParaRPr lang="en-US" dirty="0"/>
          </a:p>
          <a:p>
            <a:pPr lvl="1"/>
            <a:r>
              <a:rPr lang="en-US" dirty="0"/>
              <a:t>Share the specific area that needs improvement.</a:t>
            </a:r>
          </a:p>
          <a:p>
            <a:pPr lvl="1"/>
            <a:r>
              <a:rPr lang="en-US" dirty="0"/>
              <a:t>Be clear, factual, and focus on behavior, not personality.</a:t>
            </a:r>
          </a:p>
          <a:p>
            <a:r>
              <a:rPr lang="en-US" b="1" dirty="0"/>
              <a:t>Encouragement (Bottom Bread)</a:t>
            </a:r>
            <a:endParaRPr lang="en-US" dirty="0"/>
          </a:p>
          <a:p>
            <a:pPr lvl="1"/>
            <a:r>
              <a:rPr lang="en-US" dirty="0"/>
              <a:t>End with a reaffirmation of their strengths, trust in their abilities, and motivation to improve.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802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03FE-80B1-476D-B85C-A3DE9D3D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in Class 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2E99-333E-4B17-863A-5D91207A7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Positive:</a:t>
            </a:r>
            <a:br>
              <a:rPr lang="en-US" dirty="0"/>
            </a:br>
            <a:r>
              <a:rPr lang="en-US" i="1" dirty="0"/>
              <a:t>"Your presentation had a very clear structure, and I liked how you used visuals to explain complex ideas."</a:t>
            </a:r>
            <a:endParaRPr lang="en-US" dirty="0"/>
          </a:p>
          <a:p>
            <a:r>
              <a:rPr lang="en-US" b="1" dirty="0"/>
              <a:t>Constructive:</a:t>
            </a:r>
            <a:br>
              <a:rPr lang="en-US" dirty="0"/>
            </a:br>
            <a:r>
              <a:rPr lang="en-US" i="1" dirty="0"/>
              <a:t>"One thing that could make it even better is speaking a bit slower so the audience can fully absorb the points."</a:t>
            </a:r>
            <a:endParaRPr lang="en-US" dirty="0"/>
          </a:p>
          <a:p>
            <a:r>
              <a:rPr lang="en-US" b="1" dirty="0"/>
              <a:t>Encouragement:</a:t>
            </a:r>
            <a:br>
              <a:rPr lang="en-US" dirty="0"/>
            </a:br>
            <a:r>
              <a:rPr lang="en-US" i="1" dirty="0"/>
              <a:t>"You’ve got great ideas and presentation skills, so I’m confident that with a bit more pacing, your talks will be even more impactful."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632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Receiving Feedback Professionally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Listen without interrupting.</a:t>
            </a:r>
          </a:p>
          <a:p>
            <a:r>
              <a:t>Avoid defensiveness.</a:t>
            </a:r>
          </a:p>
          <a:p>
            <a:r>
              <a:t>Ask clarifying questions.</a:t>
            </a:r>
          </a:p>
          <a:p>
            <a:r>
              <a:t>Show appreciation for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Listening in Feedback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listening ensures feedback is understood.</a:t>
            </a:r>
          </a:p>
          <a:p>
            <a:r>
              <a:t>Avoid selective hearing.</a:t>
            </a:r>
          </a:p>
          <a:p>
            <a:r>
              <a:t>Confirm understanding before responding.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Benefits of Persuasive &amp; Effective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teamwork &amp; collaboration.</a:t>
            </a:r>
          </a:p>
          <a:p>
            <a:r>
              <a:t>Improved problem-solving.</a:t>
            </a:r>
          </a:p>
          <a:p>
            <a:r>
              <a:t>Enhanced conflict resolution.</a:t>
            </a:r>
          </a:p>
          <a:p>
            <a:r>
              <a:t>Stronger professional relationships.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Feedback Roleplay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Case Scenario – “Mobile App for Campus Navigation”</a:t>
            </a:r>
          </a:p>
          <a:p>
            <a:r>
              <a:rPr lang="en-US" dirty="0"/>
              <a:t>Your university has a large campus and many new students get lost during their first weeks.</a:t>
            </a:r>
            <a:br>
              <a:rPr lang="en-US" dirty="0"/>
            </a:br>
            <a:r>
              <a:rPr lang="en-US" b="1" dirty="0"/>
              <a:t>Student A</a:t>
            </a:r>
            <a:r>
              <a:rPr lang="en-US" dirty="0"/>
              <a:t> will propose a </a:t>
            </a:r>
            <a:r>
              <a:rPr lang="en-US" b="1" dirty="0"/>
              <a:t>new mobile app</a:t>
            </a:r>
            <a:r>
              <a:rPr lang="en-US" dirty="0"/>
              <a:t> idea that:</a:t>
            </a:r>
          </a:p>
          <a:p>
            <a:r>
              <a:rPr lang="en-US" dirty="0"/>
              <a:t>Uses GPS to guide students to classrooms, labs, and offices.</a:t>
            </a:r>
          </a:p>
          <a:p>
            <a:r>
              <a:rPr lang="en-US" dirty="0"/>
              <a:t>Shows bus schedules and canteen menus.</a:t>
            </a:r>
          </a:p>
          <a:p>
            <a:r>
              <a:rPr lang="en-US" dirty="0"/>
              <a:t>Allows students to book library seats.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65B3-B5BD-4FFB-A82C-E779B29C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Instructions for Roleplay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BEDC-CD33-4440-9AA4-88AECF3BE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Student A (Speaker)</a:t>
            </a:r>
            <a:endParaRPr lang="en-US" dirty="0"/>
          </a:p>
          <a:p>
            <a:pPr lvl="1"/>
            <a:r>
              <a:rPr lang="en-US" dirty="0"/>
              <a:t>Explain the app idea for </a:t>
            </a:r>
            <a:r>
              <a:rPr lang="en-US" b="1" dirty="0"/>
              <a:t>2 minutes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Include: target audience, main features, and expected benefits.</a:t>
            </a:r>
          </a:p>
          <a:p>
            <a:r>
              <a:rPr lang="en-US" b="1" dirty="0"/>
              <a:t>Student B (Listener)</a:t>
            </a:r>
            <a:endParaRPr lang="en-US" dirty="0"/>
          </a:p>
          <a:p>
            <a:pPr lvl="1"/>
            <a:r>
              <a:rPr lang="en-US" dirty="0"/>
              <a:t>Listen carefully, take short notes.</a:t>
            </a:r>
          </a:p>
          <a:p>
            <a:pPr lvl="1"/>
            <a:r>
              <a:rPr lang="en-US" dirty="0"/>
              <a:t>Avoid interrupting.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866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A848-F8C3-48D1-BE71-695CC4FA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0D08-4905-47FF-8740-96E0999C9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b="1" dirty="0"/>
              <a:t>Student B (Feedback using Sandwich Method)</a:t>
            </a:r>
          </a:p>
          <a:p>
            <a:r>
              <a:rPr lang="en-US" sz="2600" b="1" dirty="0"/>
              <a:t>Positive</a:t>
            </a:r>
            <a:r>
              <a:rPr lang="en-US" sz="2600" dirty="0"/>
              <a:t>: Identify one or two strong points about the idea.</a:t>
            </a:r>
          </a:p>
          <a:p>
            <a:r>
              <a:rPr lang="en-US" sz="2600" b="1" dirty="0"/>
              <a:t>Constructive: </a:t>
            </a:r>
            <a:r>
              <a:rPr lang="en-US" sz="2600" dirty="0"/>
              <a:t>Suggest one improvement or potential challenge.</a:t>
            </a:r>
          </a:p>
          <a:p>
            <a:r>
              <a:rPr lang="en-US" sz="2600" b="1" dirty="0"/>
              <a:t>Encouragement:</a:t>
            </a:r>
            <a:r>
              <a:rPr lang="en-US" sz="2600" dirty="0"/>
              <a:t> End by motivating Student A to refine and pursue the idea.</a:t>
            </a:r>
          </a:p>
          <a:p>
            <a:r>
              <a:rPr lang="en-US" sz="2600" b="1" dirty="0"/>
              <a:t>Swap roles </a:t>
            </a:r>
            <a:r>
              <a:rPr lang="en-US" sz="2600" dirty="0"/>
              <a:t>and repeat with a new idea from the other student.</a:t>
            </a:r>
          </a:p>
          <a:p>
            <a:r>
              <a:rPr lang="en-US" sz="2600" b="1" dirty="0"/>
              <a:t>Reflection:</a:t>
            </a:r>
            <a:r>
              <a:rPr lang="en-US" sz="2600" dirty="0"/>
              <a:t> Discuss as a class what made the feedback effective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201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Listening is an art requiring focus, empathy, and analysis.</a:t>
            </a:r>
          </a:p>
          <a:p>
            <a:r>
              <a:rPr dirty="0"/>
              <a:t>Persuasive listening builds influence; effective listening improves understanding.</a:t>
            </a:r>
          </a:p>
          <a:p>
            <a:r>
              <a:rPr dirty="0"/>
              <a:t>Feedback is most powerful when both parties listen attentively.</a:t>
            </a:r>
          </a:p>
          <a:p>
            <a:r>
              <a:rPr dirty="0"/>
              <a:t>“One of the most sincere forms of respect is actually listening to what another has to say.” – Bryant H. McGill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IN" u="sng">
                <a:hlinkClick r:id="rId2"/>
              </a:rPr>
              <a:t>Julian Treasure: 5 ways to listen better | TED Talk</a:t>
            </a:r>
            <a:endParaRPr lang="en-IN"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731</Words>
  <Application>Microsoft Office PowerPoint</Application>
  <PresentationFormat>On-screen Show (4:3)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Listening as an Art – Persuasive &amp; Effective Listening: Giving &amp; Receiving Feedback</vt:lpstr>
      <vt:lpstr>Introduction to Listening as an Art</vt:lpstr>
      <vt:lpstr>Listening vs Hearing</vt:lpstr>
      <vt:lpstr>Persuasive Listening</vt:lpstr>
      <vt:lpstr>Key Skills for Persuasive Listening</vt:lpstr>
      <vt:lpstr>Effective Listening</vt:lpstr>
      <vt:lpstr>Barriers to Effective Listening</vt:lpstr>
      <vt:lpstr>Feedback in Communication</vt:lpstr>
      <vt:lpstr>Giving Feedback Effectively</vt:lpstr>
      <vt:lpstr>Sandwich Method</vt:lpstr>
      <vt:lpstr>Example in Class Context</vt:lpstr>
      <vt:lpstr>Receiving Feedback Professionally</vt:lpstr>
      <vt:lpstr>Listening in Feedback Context</vt:lpstr>
      <vt:lpstr>Benefits of Persuasive &amp; Effective Listening</vt:lpstr>
      <vt:lpstr>Activity: Feedback Roleplay</vt:lpstr>
      <vt:lpstr>Instructions for Roleplay</vt:lpstr>
      <vt:lpstr>Contd…</vt:lpstr>
      <vt:lpstr>Conclusion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as an Art – Persuasive &amp; Effective Listening: Giving &amp; Receiving Feedback</dc:title>
  <dc:subject/>
  <dc:creator/>
  <cp:keywords/>
  <dc:description>generated using python-pptx</dc:description>
  <cp:lastModifiedBy>Shweta Verma</cp:lastModifiedBy>
  <cp:revision>6</cp:revision>
  <dcterms:created xsi:type="dcterms:W3CDTF">2013-01-27T09:14:16Z</dcterms:created>
  <dcterms:modified xsi:type="dcterms:W3CDTF">2026-08-25T08:11:21Z</dcterms:modified>
  <cp:category/>
</cp:coreProperties>
</file>