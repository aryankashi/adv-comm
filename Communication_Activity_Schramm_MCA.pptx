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😂 Communication Disaster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51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rPr dirty="0"/>
              <a:t>Advanced Professional Communication</a:t>
            </a:r>
          </a:p>
          <a:p>
            <a:pPr>
              <a:spcAft>
                <a:spcPts val="1400"/>
              </a:spcAft>
              <a:defRPr sz="2300"/>
            </a:pPr>
            <a:endParaRPr dirty="0"/>
          </a:p>
          <a:p>
            <a:pPr>
              <a:spcAft>
                <a:spcPts val="1400"/>
              </a:spcAft>
              <a:defRPr sz="2300"/>
            </a:pPr>
            <a:r>
              <a:rPr dirty="0"/>
              <a:t>Today’s challenge: Can you understand what your manager ACTUALLY means?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to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RULES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1. Work INDIVIDUALLY.</a:t>
            </a:r>
          </a:p>
          <a:p>
            <a:pPr>
              <a:spcAft>
                <a:spcPts val="1400"/>
              </a:spcAft>
              <a:defRPr sz="2000"/>
            </a:pPr>
            <a:r>
              <a:t>2. Read each workplace message carefully.</a:t>
            </a:r>
          </a:p>
          <a:p>
            <a:pPr>
              <a:spcAft>
                <a:spcPts val="1400"/>
              </a:spcAft>
              <a:defRPr sz="2000"/>
            </a:pPr>
            <a:r>
              <a:t>3. Write what YOU think the sender wants.</a:t>
            </a:r>
          </a:p>
          <a:p>
            <a:pPr>
              <a:spcAft>
                <a:spcPts val="1400"/>
              </a:spcAft>
              <a:defRPr sz="2000"/>
            </a:pPr>
            <a:r>
              <a:t>4. Do not discuss with anyone until instructed.</a:t>
            </a:r>
          </a:p>
          <a:p>
            <a:pPr>
              <a:spcAft>
                <a:spcPts val="1400"/>
              </a:spcAft>
              <a:defRPr sz="2000"/>
            </a:pPr>
            <a:r>
              <a:t>5. There may be more than one possible answer!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⏱ You have about 30 seconds per message.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Message 1: “Do the needful ASAP.”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You receive this from your manager.</a:t>
            </a:r>
          </a:p>
          <a:p>
            <a:pPr>
              <a:spcAft>
                <a:spcPts val="1400"/>
              </a:spcAft>
              <a:defRPr sz="2300"/>
            </a:pPr>
            <a:endParaRPr/>
          </a:p>
          <a:p>
            <a:pPr>
              <a:spcAft>
                <a:spcPts val="1400"/>
              </a:spcAft>
              <a:defRPr sz="2300"/>
            </a:pPr>
            <a:r>
              <a:t>What exactly would YOU do?</a:t>
            </a:r>
          </a:p>
          <a:p>
            <a:pPr>
              <a:spcAft>
                <a:spcPts val="1400"/>
              </a:spcAft>
              <a:defRPr sz="2300"/>
            </a:pPr>
            <a:endParaRPr/>
          </a:p>
          <a:p>
            <a:pPr>
              <a:spcAft>
                <a:spcPts val="1400"/>
              </a:spcAft>
              <a:defRPr sz="2300"/>
            </a:pPr>
            <a:r>
              <a:t>Write your answer.</a:t>
            </a:r>
          </a:p>
          <a:p>
            <a:pPr>
              <a:spcAft>
                <a:spcPts val="1400"/>
              </a:spcAft>
              <a:defRPr sz="2300"/>
            </a:pPr>
            <a:endParaRPr/>
          </a:p>
          <a:p>
            <a:pPr>
              <a:spcAft>
                <a:spcPts val="1400"/>
              </a:spcAft>
              <a:defRPr sz="2300"/>
            </a:pPr>
            <a:r>
              <a:t>THEN ASK YOURSELF:</a:t>
            </a:r>
          </a:p>
          <a:p>
            <a:pPr>
              <a:spcAft>
                <a:spcPts val="1400"/>
              </a:spcAft>
              <a:defRPr sz="2300"/>
            </a:pPr>
            <a:r>
              <a:t>What does ASAP actually mean?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Message 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ASAP could mean: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• In 5 minutes</a:t>
            </a:r>
          </a:p>
          <a:p>
            <a:pPr>
              <a:spcAft>
                <a:spcPts val="1400"/>
              </a:spcAft>
              <a:defRPr sz="2000"/>
            </a:pPr>
            <a:r>
              <a:t>• Within an hour</a:t>
            </a:r>
          </a:p>
          <a:p>
            <a:pPr>
              <a:spcAft>
                <a:spcPts val="1400"/>
              </a:spcAft>
              <a:defRPr sz="2000"/>
            </a:pPr>
            <a:r>
              <a:t>• Before lunch</a:t>
            </a:r>
          </a:p>
          <a:p>
            <a:pPr>
              <a:spcAft>
                <a:spcPts val="1400"/>
              </a:spcAft>
              <a:defRPr sz="2000"/>
            </a:pPr>
            <a:r>
              <a:t>• By the end of today</a:t>
            </a:r>
          </a:p>
          <a:p>
            <a:pPr>
              <a:spcAft>
                <a:spcPts val="1400"/>
              </a:spcAft>
              <a:defRPr sz="2000"/>
            </a:pPr>
            <a:r>
              <a:t>• Whenever possible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QUESTION:</a:t>
            </a:r>
          </a:p>
          <a:p>
            <a:pPr>
              <a:spcAft>
                <a:spcPts val="1400"/>
              </a:spcAft>
              <a:defRPr sz="2000"/>
            </a:pPr>
            <a:r>
              <a:t>Did the sender give you a clear deadline?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➡ Ambiguity = different interpretations.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Message 2: “Make the app more user-friendly.”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18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rPr dirty="0"/>
              <a:t>You are the developer.</a:t>
            </a:r>
          </a:p>
          <a:p>
            <a:pPr>
              <a:spcAft>
                <a:spcPts val="1400"/>
              </a:spcAft>
              <a:defRPr sz="2300"/>
            </a:pPr>
            <a:endParaRPr dirty="0"/>
          </a:p>
          <a:p>
            <a:pPr>
              <a:spcAft>
                <a:spcPts val="1400"/>
              </a:spcAft>
              <a:defRPr sz="2300"/>
            </a:pPr>
            <a:r>
              <a:rPr dirty="0"/>
              <a:t>What would YOU change?</a:t>
            </a:r>
          </a:p>
          <a:p>
            <a:pPr>
              <a:spcAft>
                <a:spcPts val="1400"/>
              </a:spcAft>
              <a:defRPr sz="2300"/>
            </a:pPr>
            <a:endParaRPr dirty="0"/>
          </a:p>
          <a:p>
            <a:pPr>
              <a:spcAft>
                <a:spcPts val="1400"/>
              </a:spcAft>
              <a:defRPr sz="2300"/>
            </a:pPr>
            <a:r>
              <a:rPr dirty="0"/>
              <a:t>Write 2–3 things.</a:t>
            </a:r>
          </a:p>
          <a:p>
            <a:pPr>
              <a:spcAft>
                <a:spcPts val="1400"/>
              </a:spcAft>
              <a:defRPr sz="2300"/>
            </a:pPr>
            <a:endParaRPr dirty="0"/>
          </a:p>
          <a:p>
            <a:pPr>
              <a:spcAft>
                <a:spcPts val="1400"/>
              </a:spcAft>
              <a:defRPr sz="2300"/>
            </a:pPr>
            <a:r>
              <a:rPr dirty="0"/>
              <a:t>Possible thoughts:</a:t>
            </a:r>
          </a:p>
          <a:p>
            <a:pPr>
              <a:spcAft>
                <a:spcPts val="1400"/>
              </a:spcAft>
              <a:defRPr sz="2300"/>
            </a:pPr>
            <a:r>
              <a:rPr dirty="0">
                <a:highlight>
                  <a:srgbClr val="000000"/>
                </a:highlight>
              </a:rPr>
              <a:t>UI? Navigation? Buttons? </a:t>
            </a:r>
            <a:r>
              <a:rPr dirty="0" err="1">
                <a:highlight>
                  <a:srgbClr val="000000"/>
                </a:highlight>
              </a:rPr>
              <a:t>Colours</a:t>
            </a:r>
            <a:r>
              <a:rPr dirty="0">
                <a:highlight>
                  <a:srgbClr val="000000"/>
                </a:highlight>
              </a:rPr>
              <a:t>? Speed? Mobile design?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Message 2 —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Everyone heard the SAME sentence.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But you may have imagined DIFFERENT solutions.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WHY?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Because your knowledge, experiences and expectations influence how you interpret the message.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➡ This connects to Schramm’s “Field of Experience.”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Message 3: “The server is down. Please check.”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527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dirty="0"/>
              <a:t>What does “CHECK” mean?</a:t>
            </a:r>
          </a:p>
          <a:p>
            <a:pPr>
              <a:spcAft>
                <a:spcPts val="1400"/>
              </a:spcAft>
              <a:defRPr sz="2000"/>
            </a:pPr>
            <a:endParaRPr dirty="0"/>
          </a:p>
          <a:p>
            <a:pPr>
              <a:spcAft>
                <a:spcPts val="1400"/>
              </a:spcAft>
              <a:defRPr sz="2000"/>
            </a:pPr>
            <a:r>
              <a:rPr dirty="0">
                <a:highlight>
                  <a:srgbClr val="000000"/>
                </a:highlight>
              </a:rPr>
              <a:t>A. Check the internet</a:t>
            </a:r>
          </a:p>
          <a:p>
            <a:pPr>
              <a:spcAft>
                <a:spcPts val="1400"/>
              </a:spcAft>
              <a:defRPr sz="2000"/>
            </a:pPr>
            <a:r>
              <a:rPr dirty="0">
                <a:highlight>
                  <a:srgbClr val="000000"/>
                </a:highlight>
              </a:rPr>
              <a:t>B. Check the server</a:t>
            </a:r>
          </a:p>
          <a:p>
            <a:pPr>
              <a:spcAft>
                <a:spcPts val="1400"/>
              </a:spcAft>
              <a:defRPr sz="2000"/>
            </a:pPr>
            <a:r>
              <a:rPr dirty="0">
                <a:highlight>
                  <a:srgbClr val="000000"/>
                </a:highlight>
              </a:rPr>
              <a:t>C. Restart the server</a:t>
            </a:r>
          </a:p>
          <a:p>
            <a:pPr>
              <a:spcAft>
                <a:spcPts val="1400"/>
              </a:spcAft>
              <a:defRPr sz="2000"/>
            </a:pPr>
            <a:r>
              <a:rPr dirty="0">
                <a:highlight>
                  <a:srgbClr val="000000"/>
                </a:highlight>
              </a:rPr>
              <a:t>D. Check the logs</a:t>
            </a:r>
          </a:p>
          <a:p>
            <a:pPr>
              <a:spcAft>
                <a:spcPts val="1400"/>
              </a:spcAft>
              <a:defRPr sz="2000"/>
            </a:pPr>
            <a:r>
              <a:rPr dirty="0">
                <a:highlight>
                  <a:srgbClr val="000000"/>
                </a:highlight>
              </a:rPr>
              <a:t>E. Call the network team</a:t>
            </a:r>
          </a:p>
          <a:p>
            <a:pPr>
              <a:spcAft>
                <a:spcPts val="1400"/>
              </a:spcAft>
              <a:defRPr sz="2000"/>
            </a:pPr>
            <a:r>
              <a:rPr dirty="0">
                <a:highlight>
                  <a:srgbClr val="000000"/>
                </a:highlight>
              </a:rPr>
              <a:t>F. PANIC 😄</a:t>
            </a:r>
          </a:p>
          <a:p>
            <a:pPr>
              <a:spcAft>
                <a:spcPts val="1400"/>
              </a:spcAft>
              <a:defRPr sz="2000"/>
            </a:pPr>
            <a:r>
              <a:rPr dirty="0">
                <a:highlight>
                  <a:srgbClr val="000000"/>
                </a:highlight>
              </a:rPr>
              <a:t>G. Something else</a:t>
            </a:r>
          </a:p>
          <a:p>
            <a:pPr>
              <a:spcAft>
                <a:spcPts val="1400"/>
              </a:spcAft>
              <a:defRPr sz="2000"/>
            </a:pPr>
            <a:endParaRPr dirty="0"/>
          </a:p>
          <a:p>
            <a:pPr>
              <a:spcAft>
                <a:spcPts val="1400"/>
              </a:spcAft>
              <a:defRPr sz="2000"/>
            </a:pPr>
            <a:r>
              <a:rPr dirty="0"/>
              <a:t>Write your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Message 3 — Would You Ask?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If you were the employee, would you: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A. Start working immediately?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OR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B. Ask a clarification question?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What question would you ask your manager?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Message 4: “Please push the final code.”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STOP! 😨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Where?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• Main branch?</a:t>
            </a:r>
          </a:p>
          <a:p>
            <a:pPr>
              <a:spcAft>
                <a:spcPts val="1400"/>
              </a:spcAft>
              <a:defRPr sz="2000"/>
            </a:pPr>
            <a:r>
              <a:t>• Development branch?</a:t>
            </a:r>
          </a:p>
          <a:p>
            <a:pPr>
              <a:spcAft>
                <a:spcPts val="1400"/>
              </a:spcAft>
              <a:defRPr sz="2000"/>
            </a:pPr>
            <a:r>
              <a:t>• Feature branch?</a:t>
            </a:r>
          </a:p>
          <a:p>
            <a:pPr>
              <a:spcAft>
                <a:spcPts val="1400"/>
              </a:spcAft>
              <a:defRPr sz="2000"/>
            </a:pPr>
            <a:r>
              <a:t>• GitHub?</a:t>
            </a:r>
          </a:p>
          <a:p>
            <a:pPr>
              <a:spcAft>
                <a:spcPts val="1400"/>
              </a:spcAft>
              <a:defRPr sz="2000"/>
            </a:pPr>
            <a:r>
              <a:t>• GitLab?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What could happen if the instruction is misunderstood?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Cost of One Unclear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Wrong branch → broken build → debugging → delay → angry client 😬</a:t>
            </a:r>
          </a:p>
          <a:p>
            <a:pPr>
              <a:spcAft>
                <a:spcPts val="1400"/>
              </a:spcAft>
              <a:defRPr sz="2300"/>
            </a:pPr>
            <a:endParaRPr/>
          </a:p>
          <a:p>
            <a:pPr>
              <a:spcAft>
                <a:spcPts val="1400"/>
              </a:spcAft>
              <a:defRPr sz="2300"/>
            </a:pPr>
            <a:r>
              <a:t>A communication problem can become a TECHNICAL problem.</a:t>
            </a:r>
          </a:p>
          <a:p>
            <a:pPr>
              <a:spcAft>
                <a:spcPts val="1400"/>
              </a:spcAft>
              <a:defRPr sz="2300"/>
            </a:pPr>
            <a:endParaRPr/>
          </a:p>
          <a:p>
            <a:pPr>
              <a:spcAft>
                <a:spcPts val="1400"/>
              </a:spcAft>
              <a:defRPr sz="2300"/>
            </a:pPr>
            <a:r>
              <a:t>KEY IDEA:</a:t>
            </a:r>
          </a:p>
          <a:p>
            <a:pPr>
              <a:spcAft>
                <a:spcPts val="1400"/>
              </a:spcAft>
              <a:defRPr sz="2300"/>
            </a:pPr>
            <a:r>
              <a:t>Clear communication prevents avoidable errors.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🔥 Your Turn: You Are the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You need an employee to: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• Complete the login page</a:t>
            </a:r>
          </a:p>
          <a:p>
            <a:pPr>
              <a:spcAft>
                <a:spcPts val="1400"/>
              </a:spcAft>
              <a:defRPr sz="2000"/>
            </a:pPr>
            <a:r>
              <a:t>• Test it</a:t>
            </a:r>
          </a:p>
          <a:p>
            <a:pPr>
              <a:spcAft>
                <a:spcPts val="1400"/>
              </a:spcAft>
              <a:defRPr sz="2000"/>
            </a:pPr>
            <a:r>
              <a:t>• Push it to the DEVELOPMENT branch</a:t>
            </a:r>
          </a:p>
          <a:p>
            <a:pPr>
              <a:spcAft>
                <a:spcPts val="1400"/>
              </a:spcAft>
              <a:defRPr sz="2000"/>
            </a:pPr>
            <a:r>
              <a:t>• Finish by 4 PM TODAY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TASK:</a:t>
            </a:r>
          </a:p>
          <a:p>
            <a:pPr>
              <a:spcAft>
                <a:spcPts val="1400"/>
              </a:spcAft>
              <a:defRPr sz="2000"/>
            </a:pPr>
            <a:r>
              <a:t>Write ONE professional message that communicates all four requirements clearly.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Bonus Challenge: 15 Words Only!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rPr dirty="0"/>
              <a:t>Rewrite your manager message using NO MORE THAN 15 WORDS.</a:t>
            </a:r>
          </a:p>
          <a:p>
            <a:pPr>
              <a:spcAft>
                <a:spcPts val="1400"/>
              </a:spcAft>
              <a:defRPr sz="2300"/>
            </a:pPr>
            <a:endParaRPr dirty="0"/>
          </a:p>
          <a:p>
            <a:pPr>
              <a:spcAft>
                <a:spcPts val="1400"/>
              </a:spcAft>
              <a:defRPr sz="2300"/>
            </a:pPr>
            <a:r>
              <a:rPr dirty="0"/>
              <a:t>Think:</a:t>
            </a:r>
          </a:p>
          <a:p>
            <a:pPr>
              <a:spcAft>
                <a:spcPts val="1400"/>
              </a:spcAft>
              <a:defRPr sz="2300"/>
            </a:pPr>
            <a:r>
              <a:rPr dirty="0"/>
              <a:t>WHO + WHAT + WHERE + WHEN</a:t>
            </a:r>
          </a:p>
          <a:p>
            <a:pPr>
              <a:spcAft>
                <a:spcPts val="1400"/>
              </a:spcAft>
              <a:defRPr sz="2300"/>
            </a:pPr>
            <a:endParaRPr dirty="0"/>
          </a:p>
          <a:p>
            <a:pPr>
              <a:spcAft>
                <a:spcPts val="1400"/>
              </a:spcAft>
              <a:defRPr sz="2300"/>
            </a:pPr>
            <a:r>
              <a:rPr dirty="0"/>
              <a:t>You have 60 seconds.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Compare These Two Messages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❌ “Please do the needful ASAP.”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VS.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✅ “Complete and test the login page; push it to the development branch by 4 PM today.”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Which one reduces misunderstanding?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WHY?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😂 The Worst Email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Individually write the WORST possible message you could send to your manager.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Examples: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“Done.”</a:t>
            </a:r>
          </a:p>
          <a:p>
            <a:pPr>
              <a:spcAft>
                <a:spcPts val="1400"/>
              </a:spcAft>
              <a:defRPr sz="2000"/>
            </a:pPr>
            <a:r>
              <a:t>“Will see.”</a:t>
            </a:r>
          </a:p>
          <a:p>
            <a:pPr>
              <a:spcAft>
                <a:spcPts val="1400"/>
              </a:spcAft>
              <a:defRPr sz="2000"/>
            </a:pPr>
            <a:r>
              <a:t>“Can’t.”</a:t>
            </a:r>
          </a:p>
          <a:p>
            <a:pPr>
              <a:spcAft>
                <a:spcPts val="1400"/>
              </a:spcAft>
              <a:defRPr sz="2000"/>
            </a:pPr>
            <a:r>
              <a:t>“Sir, what?”</a:t>
            </a:r>
          </a:p>
          <a:p>
            <a:pPr>
              <a:spcAft>
                <a:spcPts val="1400"/>
              </a:spcAft>
              <a:defRPr sz="2000"/>
            </a:pPr>
            <a:r>
              <a:t>“Bro, I have a doubt.” 😄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Now ask: Why are these professionally dangerous?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Now Connect It to Schramm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You just experienced the theory!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MESSAGE</a:t>
            </a:r>
          </a:p>
          <a:p>
            <a:pPr>
              <a:spcAft>
                <a:spcPts val="1400"/>
              </a:spcAft>
              <a:defRPr sz="2000"/>
            </a:pPr>
            <a:r>
              <a:t>↓</a:t>
            </a:r>
          </a:p>
          <a:p>
            <a:pPr>
              <a:spcAft>
                <a:spcPts val="1400"/>
              </a:spcAft>
              <a:defRPr sz="2000"/>
            </a:pPr>
            <a:r>
              <a:t>INTERPRETATION</a:t>
            </a:r>
          </a:p>
          <a:p>
            <a:pPr>
              <a:spcAft>
                <a:spcPts val="1400"/>
              </a:spcAft>
              <a:defRPr sz="2000"/>
            </a:pPr>
            <a:r>
              <a:t>↓</a:t>
            </a:r>
          </a:p>
          <a:p>
            <a:pPr>
              <a:spcAft>
                <a:spcPts val="1400"/>
              </a:spcAft>
              <a:defRPr sz="2000"/>
            </a:pPr>
            <a:r>
              <a:t>FEEDBACK</a:t>
            </a:r>
          </a:p>
          <a:p>
            <a:pPr>
              <a:spcAft>
                <a:spcPts val="1400"/>
              </a:spcAft>
              <a:defRPr sz="2000"/>
            </a:pPr>
            <a:r>
              <a:t>↓</a:t>
            </a:r>
          </a:p>
          <a:p>
            <a:pPr>
              <a:spcAft>
                <a:spcPts val="1400"/>
              </a:spcAft>
              <a:defRPr sz="2000"/>
            </a:pPr>
            <a:r>
              <a:t>CLARIFICATION</a:t>
            </a:r>
          </a:p>
          <a:p>
            <a:pPr>
              <a:spcAft>
                <a:spcPts val="1400"/>
              </a:spcAft>
              <a:defRPr sz="2000"/>
            </a:pPr>
            <a:r>
              <a:t>↓</a:t>
            </a:r>
          </a:p>
          <a:p>
            <a:pPr>
              <a:spcAft>
                <a:spcPts val="1400"/>
              </a:spcAft>
              <a:defRPr sz="2000"/>
            </a:pPr>
            <a:r>
              <a:t>SHARED UNDERSTANDING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Communication is not successful merely because the sender has spoken.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It is successful when the intended meaning is understood.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💡 PROFESSIONAL COMMUNICATION IS NOT ABOUT USING DIFFICULT ENGLISH.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It is about: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✓ Being clear</a:t>
            </a:r>
          </a:p>
          <a:p>
            <a:pPr>
              <a:spcAft>
                <a:spcPts val="1400"/>
              </a:spcAft>
              <a:defRPr sz="2000"/>
            </a:pPr>
            <a:r>
              <a:t>✓ Giving enough context</a:t>
            </a:r>
          </a:p>
          <a:p>
            <a:pPr>
              <a:spcAft>
                <a:spcPts val="1400"/>
              </a:spcAft>
              <a:defRPr sz="2000"/>
            </a:pPr>
            <a:r>
              <a:t>✓ Avoiding unnecessary jargon</a:t>
            </a:r>
          </a:p>
          <a:p>
            <a:pPr>
              <a:spcAft>
                <a:spcPts val="1400"/>
              </a:spcAft>
              <a:defRPr sz="2000"/>
            </a:pPr>
            <a:r>
              <a:t>✓ Asking when something is unclear</a:t>
            </a:r>
          </a:p>
          <a:p>
            <a:pPr>
              <a:spcAft>
                <a:spcPts val="1400"/>
              </a:spcAft>
              <a:defRPr sz="2000"/>
            </a:pPr>
            <a:r>
              <a:t>✓ Giving and receiving feedback</a:t>
            </a:r>
          </a:p>
          <a:p>
            <a:pPr>
              <a:spcAft>
                <a:spcPts val="1400"/>
              </a:spcAft>
              <a:defRPr sz="2000"/>
            </a:pPr>
            <a:r>
              <a:t>✓ Checking shared understanding</a:t>
            </a:r>
          </a:p>
          <a:p>
            <a:pPr>
              <a:spcAft>
                <a:spcPts val="1400"/>
              </a:spcAft>
              <a:defRPr sz="2000"/>
            </a:pPr>
            <a:endParaRPr/>
          </a:p>
          <a:p>
            <a:pPr>
              <a:spcAft>
                <a:spcPts val="1400"/>
              </a:spcAft>
              <a:defRPr sz="2000"/>
            </a:pPr>
            <a:r>
              <a:t>“Don’t assume understanding. Create understanding.”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682</Words>
  <Application>Microsoft Office PowerPoint</Application>
  <PresentationFormat>Widescreen</PresentationFormat>
  <Paragraphs>164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Shweta Verma</cp:lastModifiedBy>
  <cp:revision>2</cp:revision>
  <dcterms:created xsi:type="dcterms:W3CDTF">2013-01-27T09:14:16Z</dcterms:created>
  <dcterms:modified xsi:type="dcterms:W3CDTF">2026-08-11T08:23:26Z</dcterms:modified>
  <cp:category/>
</cp:coreProperties>
</file>