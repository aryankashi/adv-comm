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Listening as an Art: Persuasive &amp; Effective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Expanded teaching version</a:t>
            </a:r>
          </a:p>
          <a:p>
            <a:pPr>
              <a:spcAft>
                <a:spcPts val="1000"/>
              </a:spcAft>
              <a:defRPr sz="2000"/>
            </a:pPr>
            <a:r>
              <a:t>Based on your original PPT, with simple explanations, examples, discussion prompts and activity guidance.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Listening Is More Than Hearing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68730"/>
            <a:ext cx="689229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Hearing is a passive physiological process.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Listening is conscious, active and requires attention.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Listening involves understanding both the message and its meaning.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Class example: You can hear the teacher while thinking about your phone—but you are not really listening.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Ask: “Have you ever heard someone but later realized you did not remember what they said?”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Hearing vs.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8780"/>
            <a:ext cx="666369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HEARING: sound reaches our ears.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LISTENING: we attend → interpret → understand → respond.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Listening can include cognitive processing as well as emotional understanding.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Example: Someone says “I’m fine,” but their tone and facial expression suggest they may be upset.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Key takeaway: Good listening tries to understand the complete message, not just the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What Is Persuasive Listening?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65910"/>
            <a:ext cx="764667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Definition: Listening to understand and influence.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It does NOT mean manipulating or forcing someone to agree.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First understand the person's ideas, concerns and perspective.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Then respond in a way that is relevant and builds trust.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Simple formula: LISTEN → UNDERSTAND → RESPOND → BUILD TRUST → INFLUENCE.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Why Persuasive Listening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77390"/>
            <a:ext cx="764667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It helps build rapport: a comfortable and positive relationship.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It builds credibility: the speaker feels you are attentive and trustworthy.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It builds trust: people are more open when they feel genuinely understood.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Useful in sales, negotiation and leadership.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Example: A salesperson asks what the customer actually needs before recommending a product.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Example: Listening Before Persuading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34490"/>
            <a:ext cx="740664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Student: “I don’t want to participate in the college fest.”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Poor response: “You should participate. It will be good for you.”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Persuasive listener: “What makes you reluctant to participate?”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Student: “I’m worried it will affect my studies.”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Response: “That’s understandable. What if you participate in one activity that requires limited preparation?”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Lesson: Address the person's real concern rather than arguing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Four Key Skills of Persuasive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05890"/>
            <a:ext cx="705231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Ask relevant questions.</a:t>
            </a:r>
          </a:p>
          <a:p>
            <a:pPr>
              <a:spcAft>
                <a:spcPts val="1000"/>
              </a:spcAft>
              <a:defRPr sz="2000"/>
            </a:pPr>
            <a:r>
              <a:t>2. Clarify doubts and paraphrase.</a:t>
            </a:r>
          </a:p>
          <a:p>
            <a:pPr>
              <a:spcAft>
                <a:spcPts val="1000"/>
              </a:spcAft>
              <a:defRPr sz="2000"/>
            </a:pPr>
            <a:r>
              <a:t>3. Maintain open body language.</a:t>
            </a:r>
          </a:p>
          <a:p>
            <a:pPr>
              <a:spcAft>
                <a:spcPts val="1000"/>
              </a:spcAft>
              <a:defRPr sz="2000"/>
            </a:pPr>
            <a:r>
              <a:t>4. Show empathy.</a:t>
            </a:r>
          </a:p>
          <a:p>
            <a:pPr>
              <a:spcAft>
                <a:spcPts val="1000"/>
              </a:spcAft>
              <a:defRPr sz="2000"/>
            </a:pPr>
            <a:r>
              <a:t>These skills help the listener understand the speaker before responding.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Asking Relevant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Good questions help uncover the person's real concern.</a:t>
            </a:r>
          </a:p>
          <a:p>
            <a:pPr>
              <a:spcAft>
                <a:spcPts val="1000"/>
              </a:spcAft>
              <a:defRPr sz="2000"/>
            </a:pPr>
            <a:r>
              <a:t>Instead of: “Why don’t you like it?”</a:t>
            </a:r>
          </a:p>
          <a:p>
            <a:pPr>
              <a:spcAft>
                <a:spcPts val="1000"/>
              </a:spcAft>
              <a:defRPr sz="2000"/>
            </a:pPr>
            <a:r>
              <a:t>Try: “What specifically concerns you about it?”</a:t>
            </a:r>
          </a:p>
          <a:p>
            <a:pPr>
              <a:spcAft>
                <a:spcPts val="1000"/>
              </a:spcAft>
              <a:defRPr sz="2000"/>
            </a:pPr>
            <a:r>
              <a:t>Use open questions when you need more information.</a:t>
            </a:r>
          </a:p>
          <a:p>
            <a:pPr>
              <a:spcAft>
                <a:spcPts val="1000"/>
              </a:spcAft>
              <a:defRPr sz="2000"/>
            </a:pPr>
            <a:r>
              <a:t>Avoid interrupting just to prove that you already know the answer.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Clarifying &amp; Paraphrasing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11630"/>
            <a:ext cx="682371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Clarifying means asking for more information when something is unclear.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Paraphrasing means restating the speaker’s idea in your own words.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Example: “So, if I understand correctly, your main concern is the lack of time. Is that right?”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It checks understanding and reduces misunderstanding.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 speaker can correct you if you interpreted the message incorrectly.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Empathy in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60170"/>
            <a:ext cx="761238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Empathy means trying to understand another person's perspective and feelings.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Student: “I studied hard but still failed.”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Less helpful: “Don’t worry. Just study harder.”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Empathetic: “It sounds really disappointing, especially because you put in a lot of effort.”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Empathy does not mean agreeing with everything; it means showing understanding.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Open Body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31620"/>
            <a:ext cx="714375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Listening is communicated through both words and non-verbal </a:t>
            </a:r>
            <a:r>
              <a:rPr dirty="0" err="1"/>
              <a:t>behaviour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Face the speaker and maintain appropriate eye contact.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Use natural nods and attentive facial expressions.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Avoid repeatedly checking your phone or looking away.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Ask students: “How do you feel when someone checks their phone while you are telling them something important?”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Effective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1780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Fully focus on the speaker.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Avoid distractions and multitasking.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Use verbal and non-verbal cues to show attention.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Summarize important points.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Simple model: ATTEND → UNDERSTAND → RESPOND.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Barriers to Effective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1551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Physical: noise, poor audio or uncomfortable surroundings.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Psychological: bias, assumptions and preconceptions.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Linguistic: accent, jargon or unfamiliar terminology.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Attitudinal: ego, impatience or the belief that “I already know this.”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Discussion: “Which barrier is harder to overcome—noise outside us or noise inside us?”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Feedback in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97380"/>
            <a:ext cx="62865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Feedback is the response to a sender’s message.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Purpose: clarify, reinforce and build trust.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Positive feedback reinforces what is working well.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Constructive feedback identifies a specific area for improvement.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Effective feedback requires listening from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Giving Feedback Effectively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34490"/>
            <a:ext cx="750951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Be specific, not vague.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Focus on </a:t>
            </a:r>
            <a:r>
              <a:rPr dirty="0" err="1"/>
              <a:t>behaviour</a:t>
            </a:r>
            <a:r>
              <a:rPr dirty="0"/>
              <a:t>, not personality.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Use “I” statements instead of blaming “You” statements.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Balance positive and improvement points.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Example: Instead of “You are careless,” say “The assignment was submitted two days late.”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Sandwich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20"/>
            <a:ext cx="725805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TOP BREAD — Positive: Start with something the person did well.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FILLING — Constructive: Identify one specific improvement.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BOTTOM BREAD — Encouragement: End with confidence and motivation.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Easy formula: GOOD → IMPROVE → ENCOURAGE.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Purpose: Keep feedback specific, respectful and constructive.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Sandwich Method: Class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23519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Positive: “Your presentation had a very clear structure.”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Constructive: “Speaking a little slower would help the audience absorb the points.”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Encouragement: “You have strong ideas and presentation skills, so with better pacing your talk can be even more impactful.”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Ask students: “What would happen if we gave only the criticism?”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Receiving Feedback Professionally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51610"/>
            <a:ext cx="820674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Listen without interrupting.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Avoid becoming defensive immediately.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Ask clarifying questions.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Show appreciation for useful feedback.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Example response: “Thank you. Could you tell me when you noticed that I was avoiding eye contact?”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Goal: Understand the feedback before deciding how to respond.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Listening During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14450"/>
            <a:ext cx="73837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Active listening helps ensure that feedback is understood.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Avoid selective hearing.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Do not remember only the positive part and ignore the improvement point.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Confirm understanding before responding.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Example: “So you liked the content, but you think my delivery needs improvement—is that correct?”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Benefits of Persuasive &amp; Effective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8780"/>
            <a:ext cx="718947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Better teamwork and collaboration.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Improved problem-solving.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Enhanced conflict resolution.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Stronger professional relationships.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Core idea: People are more open to our response when they feel genuinely heard.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Activity: Campus Navigation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51610"/>
            <a:ext cx="700659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Student A: Propose a mobile app for a large university campus.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Possible features: GPS guidance to classrooms/labs/offices; bus schedules; canteen menus; library-seat booking.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Speaker: Explain target audience, main features and expected benefits for 2 minutes.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Listener: Listen carefully, take short notes and avoid interrupting.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Activity: Give Feedback Using the Sandwich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71650"/>
            <a:ext cx="714375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Positive: Identify one or two strong points in the idea.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Constructive: Suggest one improvement or identify a potential challenge.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Encouragement: End by motivating the speaker to refine the idea.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Swap roles and repeat with another idea.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Reflection: What made the feedback effective? Which listening </a:t>
            </a:r>
            <a:r>
              <a:rPr dirty="0" err="1"/>
              <a:t>behaviour</a:t>
            </a:r>
            <a:r>
              <a:rPr dirty="0"/>
              <a:t> helped most?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Quick Classroom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03020"/>
            <a:ext cx="706374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dirty="0"/>
              <a:t>Complete </a:t>
            </a:r>
            <a:r>
              <a:rPr dirty="0"/>
              <a:t>these sentences: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“Hearing is ______, whereas listening is ______.”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“Persuasive listening means listening to ______ and ______.”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“One way to show empathy is ______.”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“In the sandwich method, the three steps are ______, ______ and ______.”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“One barrier to effective listening is ______.”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3503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23. </a:t>
            </a:r>
            <a:r>
              <a:rPr lang="en-US" dirty="0"/>
              <a:t>Conclusion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23810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Listening is an active skill requiring focus, empathy and analysis.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Persuasive listening builds influence by first building understanding and trust.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Effective listening requires attention, clarification and appropriate responses.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Good feedback focuses on specific </a:t>
            </a:r>
            <a:r>
              <a:rPr dirty="0" err="1"/>
              <a:t>behaviour</a:t>
            </a:r>
            <a:r>
              <a:rPr dirty="0"/>
              <a:t> and improvement.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Good communication requires both giving and receiving feedback.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Remember: LISTEN → UNDERSTAND → RESPOND → BUILD TRUST → INFLUENCE.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1433</Words>
  <Application>Microsoft Office PowerPoint</Application>
  <PresentationFormat>On-screen Show (4:3)</PresentationFormat>
  <Paragraphs>143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Shweta Verma</cp:lastModifiedBy>
  <cp:revision>2</cp:revision>
  <dcterms:created xsi:type="dcterms:W3CDTF">2013-01-27T09:14:16Z</dcterms:created>
  <dcterms:modified xsi:type="dcterms:W3CDTF">2026-08-25T08:20:40Z</dcterms:modified>
  <cp:category/>
</cp:coreProperties>
</file>