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8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84514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FFFFF"/>
                </a:solidFill>
              </a:rPr>
              <a:t>Advanced Professional Communication</a:t>
            </a:r>
          </a:p>
          <a:p>
            <a:r>
              <a:rPr sz="4200" b="1" dirty="0">
                <a:solidFill>
                  <a:srgbClr val="FFFFFF"/>
                </a:solidFill>
              </a:rPr>
              <a:t>Para Jumbles &amp; Error Spotting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Define the core grammar terms needed for error spotting: subject, verb, agreement, tense, conjunction and comparison.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Apply subject–verb agreement rules to sentences with singular/plural traps.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Distinguish SINCE (starting point) from FOR (duration) and use them accurately.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Analyse connectors and reference words to establish logical sentence order in para jumbles.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Detect an odd sentence by identifying the paragraph's common topic.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Analyse a sentence/paragraph, identify the error type, correct it, and justify the correction.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Part A — What is a Para Jumble?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76F75"/>
                </a:solidFill>
              </a:rPr>
              <a:t>A logical-order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49240" cy="502920"/>
          </a:xfrm>
          <a:prstGeom prst="roundRect">
            <a:avLst/>
          </a:prstGeom>
          <a:solidFill>
            <a:srgbClr val="1F3046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700" b="1" dirty="0">
                <a:solidFill>
                  <a:srgbClr val="FFFFFF"/>
                </a:solidFill>
              </a:rPr>
              <a:t>WHAT YOU 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349240" cy="502920"/>
          </a:xfrm>
          <a:prstGeom prst="roundRect">
            <a:avLst/>
          </a:prstGeom>
          <a:solidFill>
            <a:srgbClr val="276F75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700" b="1">
                <a:solidFill>
                  <a:srgbClr val="FFFFFF"/>
                </a:solidFill>
              </a:rPr>
              <a:t>WHAT YOU MUST FIND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Several sentences are presented in a mixed order.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The sentences are individually grammatical, but their sequence is disrupted.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The task is to reconstruct a coherent paragraph.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6596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The opening sentence: introduces the topic.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The middle sequence: develops the idea through cause, result, example, contrast, etc.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The closing sentence: completes the thought or signals an outcome.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715000"/>
            <a:ext cx="9784080" cy="502920"/>
          </a:xfrm>
          <a:prstGeom prst="roundRect">
            <a:avLst/>
          </a:prstGeom>
          <a:solidFill>
            <a:srgbClr val="EBF2F3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700" b="1" dirty="0">
                <a:solidFill>
                  <a:srgbClr val="1F3046"/>
                </a:solidFill>
              </a:rPr>
              <a:t>Key principle: Follow meaning + grammatical links, not just sentence length.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Para Jumble Rule 1 — Find the Opening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An opening sentence normally introduces the subject without depending on an earlier sentence.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Look for a broad/general statement before specific details.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An opening sentence usually avoids unexplained reference words such as “this”, “it”, “they”, “such”, or “therefore”.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Example: “Cities today are growing at an unprecedented pace.” can introduce a discussion about urban growth.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Do not choose a sentence simply because it sounds important—ask whether the paragraph can logically begin with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5532120"/>
            <a:ext cx="9601200" cy="64008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900" b="1">
                <a:solidFill>
                  <a:srgbClr val="276F75"/>
                </a:solidFill>
              </a:rPr>
              <a:t>Quick test: “Can this sentence stand alone as the starting point?”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Para Jumble Rule 2 — Follow Reference Words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49240" cy="502920"/>
          </a:xfrm>
          <a:prstGeom prst="roundRect">
            <a:avLst/>
          </a:prstGeom>
          <a:solidFill>
            <a:srgbClr val="1F3046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700" b="1">
                <a:solidFill>
                  <a:srgbClr val="FFFFFF"/>
                </a:solidFill>
              </a:rPr>
              <a:t>REFERENCE 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349240" cy="502920"/>
          </a:xfrm>
          <a:prstGeom prst="roundRect">
            <a:avLst/>
          </a:prstGeom>
          <a:solidFill>
            <a:srgbClr val="276F75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700" b="1">
                <a:solidFill>
                  <a:srgbClr val="FFFFFF"/>
                </a:solidFill>
              </a:rPr>
              <a:t>WHAT TO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this / that / these / those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it / they / them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such / the former / the latter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96596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What does this/it/they refer to?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Which earlier idea makes the reference meaningful?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If a sentence begins with “This”, it often follows the idea it refers 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57800"/>
            <a:ext cx="10241280" cy="777240"/>
          </a:xfrm>
          <a:prstGeom prst="roundRect">
            <a:avLst/>
          </a:prstGeom>
          <a:solidFill>
            <a:srgbClr val="EBF2F3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1F3046"/>
                </a:solidFill>
              </a:rPr>
              <a:t>Example: “This has led to rapid urbanization...” → “This” needs an earlier cause/idea.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Para Jumble Rule 3 — Use Connectors as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49240" cy="502920"/>
          </a:xfrm>
          <a:prstGeom prst="roundRect">
            <a:avLst/>
          </a:prstGeom>
          <a:solidFill>
            <a:srgbClr val="1F3046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COMMON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349240" cy="502920"/>
          </a:xfrm>
          <a:prstGeom prst="roundRect">
            <a:avLst/>
          </a:prstGeom>
          <a:solidFill>
            <a:srgbClr val="276F75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700" b="1">
                <a:solidFill>
                  <a:srgbClr val="FFFFFF"/>
                </a:solidFill>
              </a:rPr>
              <a:t>HOW THEY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However / but → contrast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Therefore / thus → result or conclusion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Because / since → reason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Finally / eventually → ending or later stage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After that / then / soon after → sequence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96596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 connector tells you how the next sentence relates to what came before.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“Finally” rarely belongs at the beginning.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“However” normally contrasts with an idea already introduced.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“After that” requires an earlier event.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23560"/>
            <a:ext cx="9966960" cy="54864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276F75"/>
                </a:solidFill>
              </a:rPr>
              <a:t>Do not treat connectors as decoration. They are sequencing clues.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Para Jumble Rule 4 — Build the Logic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194560" cy="685800"/>
          </a:xfrm>
          <a:prstGeom prst="roundRect">
            <a:avLst/>
          </a:prstGeom>
          <a:solidFill>
            <a:srgbClr val="1F3046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FFFFFF"/>
                </a:solidFill>
              </a:rPr>
              <a:t>GENERAL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920240"/>
            <a:ext cx="2194560" cy="685800"/>
          </a:xfrm>
          <a:prstGeom prst="roundRect">
            <a:avLst/>
          </a:prstGeom>
          <a:solidFill>
            <a:srgbClr val="276F75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REASON / CAUSE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920240"/>
            <a:ext cx="2194560" cy="685800"/>
          </a:xfrm>
          <a:prstGeom prst="roundRect">
            <a:avLst/>
          </a:prstGeom>
          <a:solidFill>
            <a:srgbClr val="1F3046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RESULT / EFFECT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920240"/>
            <a:ext cx="3474720" cy="685800"/>
          </a:xfrm>
          <a:prstGeom prst="roundRect">
            <a:avLst/>
          </a:prstGeom>
          <a:solidFill>
            <a:srgbClr val="276F75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CONTRAST /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Ask: What is the paragraph trying to explain?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Then ask: Which sentence gives the reason? Which gives the consequence? Which changes direction?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Worksheet example: B (city growth) → D (employment reason) → A (consequence) → C (challenge/contrast).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5257800"/>
            <a:ext cx="5212080" cy="64008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2200" b="1">
                <a:solidFill>
                  <a:srgbClr val="1F3046"/>
                </a:solidFill>
              </a:rPr>
              <a:t>Answer pattern: B → D → A → 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Worked Example — Para Jumble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2C32"/>
                </a:solidFill>
              </a:defRPr>
            </a:pPr>
            <a:r>
              <a:t>B. Cities today are growing at an unprecedented pace.</a:t>
            </a:r>
          </a:p>
          <a:p>
            <a:pPr>
              <a:spcAft>
                <a:spcPts val="800"/>
              </a:spcAft>
              <a:defRPr sz="2000">
                <a:solidFill>
                  <a:srgbClr val="262C32"/>
                </a:solidFill>
              </a:defRPr>
            </a:pPr>
            <a:r>
              <a:t>D. The main reason is better employment opportunities in cities.</a:t>
            </a:r>
          </a:p>
          <a:p>
            <a:pPr>
              <a:spcAft>
                <a:spcPts val="800"/>
              </a:spcAft>
              <a:defRPr sz="2000">
                <a:solidFill>
                  <a:srgbClr val="262C32"/>
                </a:solidFill>
              </a:defRPr>
            </a:pPr>
            <a:r>
              <a:t>A. This has led to rapid urbanization and migration.</a:t>
            </a:r>
          </a:p>
          <a:p>
            <a:pPr>
              <a:spcAft>
                <a:spcPts val="800"/>
              </a:spcAft>
              <a:defRPr sz="2000">
                <a:solidFill>
                  <a:srgbClr val="262C32"/>
                </a:solidFill>
              </a:defRPr>
            </a:pPr>
            <a:r>
              <a:t>C. However, it has also created challenges like overcrowding and pollution.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047" y="4594860"/>
            <a:ext cx="1051560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 dirty="0">
                <a:solidFill>
                  <a:schemeClr val="tx1"/>
                </a:solidFill>
                <a:highlight>
                  <a:srgbClr val="000000"/>
                </a:highlight>
              </a:rPr>
              <a:t>B introduces the topic → D explains the reason → A uses “This” → C uses “However” to introduce challenges.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34690" y="5772150"/>
            <a:ext cx="5394960" cy="502920"/>
          </a:xfrm>
          <a:prstGeom prst="roundRect">
            <a:avLst/>
          </a:prstGeom>
          <a:solidFill>
            <a:srgbClr val="1F3046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900" b="1" dirty="0">
                <a:solidFill>
                  <a:schemeClr val="tx1"/>
                </a:solidFill>
                <a:highlight>
                  <a:srgbClr val="000000"/>
                </a:highlight>
              </a:rPr>
              <a:t>Correct order: B – D – A –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Odd Sentence Out — A Different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Here, you are NOT arranging the sentences.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You identify the sentence that does not belong to the common topic or idea.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Method: read all four sentences → identify the shared theme of three → find the unrelated sentence.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Worksheet example: climate change, sea levels and renewable energy share an environmental theme; the cricket sentence does not.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 sentence can be grammatically correct but still be the odd sentence.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577840"/>
            <a:ext cx="9784080" cy="59436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1F3046"/>
                </a:solidFill>
              </a:rPr>
              <a:t>The question is about COHERENCE (logical unity), not grammar.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Part B — Error Spotting: What Are We Checking?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Error spotting gives a sentence divided into parts. One part may contain a grammatical error.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Your task is to locate the incorrect part and determine the rule that has been violated.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Subject–verb agreement: Does the verb match the subject in number?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Time expressions: Is the correct preposition used with a starting point or duration?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Conjunctions: Are paired words such as although/but used correctly?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Comparison: Are words such as junior/senior used with the correct construction?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23560"/>
            <a:ext cx="10332720" cy="594360"/>
          </a:xfrm>
          <a:prstGeom prst="roundRect">
            <a:avLst/>
          </a:prstGeom>
          <a:solidFill>
            <a:srgbClr val="EBF2F3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276F75"/>
                </a:solidFill>
              </a:rPr>
              <a:t>Best habit: Name the RULE first, then choose the correction.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Grammar Term 1 — Subject &amp; Verb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49240" cy="502920"/>
          </a:xfrm>
          <a:prstGeom prst="roundRect">
            <a:avLst/>
          </a:prstGeom>
          <a:solidFill>
            <a:srgbClr val="1F3046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700" b="1">
                <a:solidFill>
                  <a:srgbClr val="FFFFFF"/>
                </a:solidFill>
              </a:rPr>
              <a:t>SUBJECT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349240" cy="502920"/>
          </a:xfrm>
          <a:prstGeom prst="roundRect">
            <a:avLst/>
          </a:prstGeom>
          <a:solidFill>
            <a:srgbClr val="276F75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700" b="1">
                <a:solidFill>
                  <a:srgbClr val="FFFFFF"/>
                </a:solidFill>
              </a:rPr>
              <a:t>VERB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The person, thing, or idea the sentence is about.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Ask: “Who/what is doing or being described?”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Example: “The students submitted their sheets.” → students =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96596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The action or state expressed in the sentence.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Example: “The students submitted...” → submitted = verb.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The verb must fit the subject in number in many present/past constructions.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577840"/>
            <a:ext cx="9966960" cy="59436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2000" b="1">
                <a:solidFill>
                  <a:srgbClr val="1F3046"/>
                </a:solidFill>
              </a:rPr>
              <a:t>Subject = WHO/WHAT?     Verb = DOES/IS WHAT?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Grammar Term 2 — Subject–Verb Agreement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Agreement means the subject and verb must match in number (singular or plural).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Singular subject → singular verb: “The candidate has submitted...”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Plural subject → plural verb: “The candidates have submitted...”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Common trap: a plural noun after “of” does not automatically make the main subject plural.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Example: “Each of the candidates has submitted...” → the real subject is “Each”, which is singular.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577840"/>
            <a:ext cx="10424160" cy="594360"/>
          </a:xfrm>
          <a:prstGeom prst="roundRect">
            <a:avLst/>
          </a:prstGeom>
          <a:solidFill>
            <a:srgbClr val="EBF2F3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276F75"/>
                </a:solidFill>
              </a:rPr>
              <a:t>Think: Ignore the distracting “of + plural noun”; identify the MAIN subject.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Subject–Verb Agreement — The “Each”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828800" cy="685800"/>
          </a:xfrm>
          <a:prstGeom prst="roundRect">
            <a:avLst/>
          </a:prstGeom>
          <a:solidFill>
            <a:srgbClr val="1F3046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2200" b="1">
                <a:solidFill>
                  <a:srgbClr val="FFFFFF"/>
                </a:solidFill>
              </a:rPr>
              <a:t>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17320"/>
            <a:ext cx="274320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2000" b="0">
                <a:solidFill>
                  <a:srgbClr val="262C32"/>
                </a:solidFill>
              </a:rPr>
              <a:t>of the candidates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17320"/>
            <a:ext cx="2743200" cy="685800"/>
          </a:xfrm>
          <a:prstGeom prst="roundRect">
            <a:avLst/>
          </a:prstGeom>
          <a:solidFill>
            <a:srgbClr val="276F75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HAS submitted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24128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rPr dirty="0"/>
              <a:t>“Each” refers to members individually: one candidate + one candidate + one candidate...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rPr dirty="0"/>
              <a:t>Therefore, treat “each” as singular for the verb.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rPr dirty="0"/>
              <a:t>Incorrect: Each of the candidates have submitted...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rPr dirty="0"/>
              <a:t>Correct: Each of the candidates has submitted...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Time Expression Rule — SINCE vs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49240" cy="502920"/>
          </a:xfrm>
          <a:prstGeom prst="roundRect">
            <a:avLst/>
          </a:prstGeom>
          <a:solidFill>
            <a:srgbClr val="1F3046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700" b="1">
                <a:solidFill>
                  <a:srgbClr val="FFFFFF"/>
                </a:solidFill>
              </a:rPr>
              <a:t>SINCE = STARTING 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349240" cy="502920"/>
          </a:xfrm>
          <a:prstGeom prst="roundRect">
            <a:avLst/>
          </a:prstGeom>
          <a:solidFill>
            <a:srgbClr val="276F75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700" b="1">
                <a:solidFill>
                  <a:srgbClr val="FFFFFF"/>
                </a:solidFill>
              </a:rPr>
              <a:t>FOR =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Answers: “From when?”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since 2020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since Monday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since January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since morning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96596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Answers: “How long?”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for three years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for two months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for five days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for a long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532120"/>
            <a:ext cx="10424160" cy="64008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1F3046"/>
                </a:solidFill>
              </a:rPr>
              <a:t>Worksheet error: “She has been working ... since three years.” → “for three years.”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Conjunction Rule — Although vs But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Although introduces a contrast within a complex sentence.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Standard pattern: Although + clause, main clause.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Example: Although he studied hard, he could not clear the exam.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But can also connect two contrasting clauses in a different structure.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Example: He studied hard, but he could not clear the exam.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Avoid combining both in the same basic construction: Although he studied hard, but he could not...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23560"/>
            <a:ext cx="10424160" cy="594360"/>
          </a:xfrm>
          <a:prstGeom prst="roundRect">
            <a:avLst/>
          </a:prstGeom>
          <a:solidFill>
            <a:srgbClr val="EBF2F3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900" b="1">
                <a:solidFill>
                  <a:srgbClr val="276F75"/>
                </a:solidFill>
              </a:rPr>
              <a:t>Memory rule: ALTHOUGH already carries the contrast → don't add BUT.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Neither...Nor — Finding the Correct Verb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rPr dirty="0"/>
              <a:t>Neither...nor connects two alternatives that are both negative.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rPr dirty="0"/>
              <a:t>In the worksheet sentence, the two subjects are “the coach” and “the captain”.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rPr dirty="0"/>
              <a:t>For the pattern used in this exercise, make the verb agree with the subject nearest to it.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rPr dirty="0"/>
              <a:t>Neither the coach nor the captain was present. → nearest subject = captain (singular).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rPr dirty="0"/>
              <a:t>Compare: Neither the captain nor the players were present. → nearest subject = players (plural).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5577840"/>
            <a:ext cx="10149840" cy="59436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1F3046"/>
                </a:solidFill>
              </a:rPr>
              <a:t>Exam shortcut: NEITHER/NOR → look immediately before the verb.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Comparison Rule — Junior/Senior +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2C32"/>
                </a:solidFill>
              </a:defRPr>
            </a:pPr>
            <a:r>
              <a:rPr dirty="0"/>
              <a:t>Some comparison words are normally followed by “to” rather than “than”.</a:t>
            </a:r>
          </a:p>
          <a:p>
            <a:pPr>
              <a:spcAft>
                <a:spcPts val="800"/>
              </a:spcAft>
              <a:defRPr sz="1900">
                <a:solidFill>
                  <a:srgbClr val="262C32"/>
                </a:solidFill>
              </a:defRPr>
            </a:pPr>
            <a:r>
              <a:rPr dirty="0"/>
              <a:t>Examples: junior to, senior to, superior to, inferior to.</a:t>
            </a:r>
          </a:p>
          <a:p>
            <a:pPr>
              <a:spcAft>
                <a:spcPts val="800"/>
              </a:spcAft>
              <a:defRPr sz="1900">
                <a:solidFill>
                  <a:srgbClr val="262C32"/>
                </a:solidFill>
              </a:defRPr>
            </a:pPr>
            <a:r>
              <a:rPr dirty="0"/>
              <a:t>Worksheet: “She is junior than me...”</a:t>
            </a:r>
          </a:p>
          <a:p>
            <a:pPr>
              <a:spcAft>
                <a:spcPts val="800"/>
              </a:spcAft>
              <a:defRPr sz="1900">
                <a:solidFill>
                  <a:srgbClr val="262C32"/>
                </a:solidFill>
              </a:defRPr>
            </a:pPr>
            <a:r>
              <a:rPr dirty="0"/>
              <a:t>Correction: “She is junior to me...”</a:t>
            </a:r>
          </a:p>
          <a:p>
            <a:pPr>
              <a:spcAft>
                <a:spcPts val="800"/>
              </a:spcAft>
              <a:defRPr sz="1900">
                <a:solidFill>
                  <a:srgbClr val="262C32"/>
                </a:solidFill>
              </a:defRPr>
            </a:pPr>
            <a:r>
              <a:rPr dirty="0"/>
              <a:t>Do not transfer the rule for ordinary comparative adjectives (e.g., taller than) to these words.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486400"/>
            <a:ext cx="9875520" cy="685800"/>
          </a:xfrm>
          <a:prstGeom prst="roundRect">
            <a:avLst/>
          </a:prstGeom>
          <a:solidFill>
            <a:srgbClr val="EBF2F3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2000" b="1" dirty="0">
                <a:solidFill>
                  <a:srgbClr val="276F75"/>
                </a:solidFill>
              </a:rPr>
              <a:t>Special construction: junior/senior/superior/inferior + 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A Reliable Error-Spotting Procedure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80160"/>
            <a:ext cx="1065276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262C32"/>
                </a:solidFill>
              </a:rPr>
              <a:t>1. Read the whole sentence
Don't decide from the first few words.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84831"/>
            <a:ext cx="10652760" cy="685800"/>
          </a:xfrm>
          <a:prstGeom prst="roundRect">
            <a:avLst/>
          </a:prstGeom>
          <a:solidFill>
            <a:srgbClr val="EBF2F3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262C32"/>
                </a:solidFill>
              </a:rPr>
              <a:t>2. Find the subject
Ask: Who/what is the sentence about?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89503"/>
            <a:ext cx="1065276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262C32"/>
                </a:solidFill>
              </a:rPr>
              <a:t>3. Check the verb
Does it agree with the subject?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94176"/>
            <a:ext cx="10652760" cy="685800"/>
          </a:xfrm>
          <a:prstGeom prst="roundRect">
            <a:avLst/>
          </a:prstGeom>
          <a:solidFill>
            <a:srgbClr val="EBF2F3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262C32"/>
                </a:solidFill>
              </a:rPr>
              <a:t>4. Check connectors/prepositions
since/for, although/but, etc.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98848"/>
            <a:ext cx="1065276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262C32"/>
                </a:solidFill>
              </a:rPr>
              <a:t>5. Check comparison words
junior/senior/superior/inferior + 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303520"/>
            <a:ext cx="10652760" cy="685800"/>
          </a:xfrm>
          <a:prstGeom prst="roundRect">
            <a:avLst/>
          </a:prstGeom>
          <a:solidFill>
            <a:srgbClr val="EBF2F3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262C32"/>
                </a:solidFill>
              </a:rPr>
              <a:t>6. Correct + justify
State the rule, not merely the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6080760"/>
            <a:ext cx="7955279" cy="411480"/>
          </a:xfrm>
          <a:prstGeom prst="roundRect">
            <a:avLst/>
          </a:prstGeom>
          <a:solidFill>
            <a:srgbClr val="1F3046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This turns error spotting into a reasoning task.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46"/>
                </a:solidFill>
              </a:rPr>
              <a:t>Worksheet Connection — How to Use the 10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Para Jumbles Q1–Q5: first identify the topic, then locate the opening sentence, reference links and sequencing/contrast signals.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Error Spotting Q6–Q10: identify the grammatical trigger, name the rule, then select the incorrect part.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Ask students to explain WHY an option is correct. This is more useful than checking the answer alone.</a:t>
            </a:r>
          </a:p>
          <a:p>
            <a:pPr>
              <a:spcAft>
                <a:spcPts val="800"/>
              </a:spcAft>
              <a:defRPr sz="1800">
                <a:solidFill>
                  <a:srgbClr val="262C32"/>
                </a:solidFill>
              </a:defRPr>
            </a:pPr>
            <a:r>
              <a:t>Use the worksheet as guided practice after the concept lecture; do not spend the lecture merely reading the questions aloud.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486400"/>
            <a:ext cx="1042416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276F75"/>
                </a:solidFill>
              </a:rPr>
              <a:t>Suggested timing: 25–27 min concepts + 10–12 min worksheet + 1–3 min exam guidance.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4902048" cy="14157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FFFF"/>
                </a:solidFill>
              </a:rPr>
              <a:t>Final Student Strategy</a:t>
            </a:r>
          </a:p>
          <a:p>
            <a:r>
              <a:rPr sz="2700" b="1" dirty="0">
                <a:solidFill>
                  <a:srgbClr val="DCEBEC"/>
                </a:solidFill>
              </a:rPr>
              <a:t>Para Jumbles → FIND THE LINKS.</a:t>
            </a:r>
          </a:p>
          <a:p>
            <a:r>
              <a:rPr sz="2700" b="1" dirty="0">
                <a:solidFill>
                  <a:srgbClr val="DCEBEC"/>
                </a:solidFill>
              </a:rPr>
              <a:t>Error Spotting → FIND THE RULE.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303520"/>
            <a:ext cx="10332720" cy="640080"/>
          </a:xfrm>
          <a:prstGeom prst="roundRect">
            <a:avLst/>
          </a:prstGeom>
          <a:solidFill>
            <a:srgbClr val="276F75"/>
          </a:solidFill>
          <a:ln>
            <a:solidFill>
              <a:srgbClr val="DD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Coherence + Grammar + Justification = stronger professional 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1760</Words>
  <Application>Microsoft Office PowerPoint</Application>
  <PresentationFormat>Widescreen</PresentationFormat>
  <Paragraphs>160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Shweta Verma</cp:lastModifiedBy>
  <cp:revision>3</cp:revision>
  <dcterms:created xsi:type="dcterms:W3CDTF">2013-01-27T09:14:16Z</dcterms:created>
  <dcterms:modified xsi:type="dcterms:W3CDTF">2026-09-15T06:24:59Z</dcterms:modified>
  <cp:category/>
</cp:coreProperties>
</file>